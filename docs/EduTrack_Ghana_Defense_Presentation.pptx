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d79d1b68c4092" /><Relationship Type="http://schemas.openxmlformats.org/officeDocument/2006/relationships/extended-properties" Target="/docProps/app.xml" Id="Rba454118108d4329" /><Relationship Type="http://schemas.openxmlformats.org/officeDocument/2006/relationships/officeDocument" Target="/ppt/presentation.xml" Id="Rb1ab57d8d0c8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ed6046b665481d"/>
  </p:sldMasterIdLst>
  <p:notesMasterIdLst>
    <p:notesMasterId xmlns:r="http://schemas.openxmlformats.org/officeDocument/2006/relationships" r:id="R648defa5395d4b5e"/>
  </p:notesMasterIdLst>
  <p:sldIdLst>
    <p:sldId xmlns:r="http://schemas.openxmlformats.org/officeDocument/2006/relationships" id="256" r:id="R9eed09bdbe5f47c0"/>
    <p:sldId xmlns:r="http://schemas.openxmlformats.org/officeDocument/2006/relationships" id="257" r:id="R5d7637d7b2bf4a18"/>
    <p:sldId xmlns:r="http://schemas.openxmlformats.org/officeDocument/2006/relationships" id="258" r:id="Re6cd206fa65e48f1"/>
    <p:sldId xmlns:r="http://schemas.openxmlformats.org/officeDocument/2006/relationships" id="259" r:id="Ra99162bceee041a9"/>
    <p:sldId xmlns:r="http://schemas.openxmlformats.org/officeDocument/2006/relationships" id="260" r:id="R97cfa8f137da42cd"/>
    <p:sldId xmlns:r="http://schemas.openxmlformats.org/officeDocument/2006/relationships" id="261" r:id="Rb67e2e1ad2d44e01"/>
    <p:sldId xmlns:r="http://schemas.openxmlformats.org/officeDocument/2006/relationships" id="262" r:id="R81c71d05a8cc497a"/>
    <p:sldId xmlns:r="http://schemas.openxmlformats.org/officeDocument/2006/relationships" id="263" r:id="R443853df70f0494b"/>
    <p:sldId xmlns:r="http://schemas.openxmlformats.org/officeDocument/2006/relationships" id="264" r:id="Rcab7e29cc51745d8"/>
    <p:sldId xmlns:r="http://schemas.openxmlformats.org/officeDocument/2006/relationships" id="265" r:id="Re1b151bc938042e4"/>
    <p:sldId xmlns:r="http://schemas.openxmlformats.org/officeDocument/2006/relationships" id="266" r:id="Rc740837e22714790"/>
    <p:sldId xmlns:r="http://schemas.openxmlformats.org/officeDocument/2006/relationships" id="267" r:id="R2bc2630942884386"/>
    <p:sldId xmlns:r="http://schemas.openxmlformats.org/officeDocument/2006/relationships" id="268" r:id="Rb8d7475f05c64523"/>
    <p:sldId xmlns:r="http://schemas.openxmlformats.org/officeDocument/2006/relationships" id="269" r:id="Rc19a44bda57a4ffd"/>
    <p:sldId xmlns:r="http://schemas.openxmlformats.org/officeDocument/2006/relationships" id="270" r:id="R5c604cb62e5d4d74"/>
    <p:sldId xmlns:r="http://schemas.openxmlformats.org/officeDocument/2006/relationships" id="271" r:id="Rbb4e36fe00264e28"/>
    <p:sldId xmlns:r="http://schemas.openxmlformats.org/officeDocument/2006/relationships" id="272" r:id="R61fc250d52304e1e"/>
    <p:sldId xmlns:r="http://schemas.openxmlformats.org/officeDocument/2006/relationships" id="273" r:id="R60e6ae5921c745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e9a78570f14547" /><Relationship Type="http://schemas.openxmlformats.org/officeDocument/2006/relationships/slideMaster" Target="/ppt/slideMasters/slideMaster1.xml" Id="R4fed6046b665481d" /><Relationship Type="http://schemas.openxmlformats.org/officeDocument/2006/relationships/notesMaster" Target="/ppt/notesMasters/notesMaster1.xml" Id="R648defa5395d4b5e" /><Relationship Type="http://schemas.openxmlformats.org/officeDocument/2006/relationships/presProps" Target="/ppt/presProps.xml" Id="Re5019a175c6b4f30" /><Relationship Type="http://schemas.openxmlformats.org/officeDocument/2006/relationships/tableStyles" Target="/ppt/tableStyles.xml" Id="Rede2e730e9304d50" /><Relationship Type="http://schemas.openxmlformats.org/officeDocument/2006/relationships/slide" Target="/ppt/slides/slide1.xml" Id="R9eed09bdbe5f47c0" /><Relationship Type="http://schemas.openxmlformats.org/officeDocument/2006/relationships/slide" Target="/ppt/slides/slide2.xml" Id="R5d7637d7b2bf4a18" /><Relationship Type="http://schemas.openxmlformats.org/officeDocument/2006/relationships/slide" Target="/ppt/slides/slide3.xml" Id="Re6cd206fa65e48f1" /><Relationship Type="http://schemas.openxmlformats.org/officeDocument/2006/relationships/slide" Target="/ppt/slides/slide4.xml" Id="Ra99162bceee041a9" /><Relationship Type="http://schemas.openxmlformats.org/officeDocument/2006/relationships/slide" Target="/ppt/slides/slide5.xml" Id="R97cfa8f137da42cd" /><Relationship Type="http://schemas.openxmlformats.org/officeDocument/2006/relationships/slide" Target="/ppt/slides/slide6.xml" Id="Rb67e2e1ad2d44e01" /><Relationship Type="http://schemas.openxmlformats.org/officeDocument/2006/relationships/slide" Target="/ppt/slides/slide7.xml" Id="R81c71d05a8cc497a" /><Relationship Type="http://schemas.openxmlformats.org/officeDocument/2006/relationships/slide" Target="/ppt/slides/slide8.xml" Id="R443853df70f0494b" /><Relationship Type="http://schemas.openxmlformats.org/officeDocument/2006/relationships/slide" Target="/ppt/slides/slide9.xml" Id="Rcab7e29cc51745d8" /><Relationship Type="http://schemas.openxmlformats.org/officeDocument/2006/relationships/slide" Target="/ppt/slides/slide10.xml" Id="Re1b151bc938042e4" /><Relationship Type="http://schemas.openxmlformats.org/officeDocument/2006/relationships/slide" Target="/ppt/slides/slide11.xml" Id="Rc740837e22714790" /><Relationship Type="http://schemas.openxmlformats.org/officeDocument/2006/relationships/slide" Target="/ppt/slides/slide12.xml" Id="R2bc2630942884386" /><Relationship Type="http://schemas.openxmlformats.org/officeDocument/2006/relationships/slide" Target="/ppt/slides/slide13.xml" Id="Rb8d7475f05c64523" /><Relationship Type="http://schemas.openxmlformats.org/officeDocument/2006/relationships/slide" Target="/ppt/slides/slide14.xml" Id="Rc19a44bda57a4ffd" /><Relationship Type="http://schemas.openxmlformats.org/officeDocument/2006/relationships/slide" Target="/ppt/slides/slide15.xml" Id="R5c604cb62e5d4d74" /><Relationship Type="http://schemas.openxmlformats.org/officeDocument/2006/relationships/slide" Target="/ppt/slides/slide16.xml" Id="Rbb4e36fe00264e28" /><Relationship Type="http://schemas.openxmlformats.org/officeDocument/2006/relationships/slide" Target="/ppt/slides/slide17.xml" Id="R61fc250d52304e1e" /><Relationship Type="http://schemas.openxmlformats.org/officeDocument/2006/relationships/slide" Target="/ppt/slides/slide18.xml" Id="R60e6ae5921c745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9c9e8ef8b344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ce403975b944af" /><Relationship Type="http://schemas.openxmlformats.org/officeDocument/2006/relationships/notesMaster" Target="/ppt/notesMasters/notesMaster1.xml" Id="R486bdb2205a1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995ee68e34f89" /><Relationship Type="http://schemas.openxmlformats.org/officeDocument/2006/relationships/notesMaster" Target="/ppt/notesMasters/notesMaster1.xml" Id="Rc638cb63a8b346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bf5988a9224b43" /><Relationship Type="http://schemas.openxmlformats.org/officeDocument/2006/relationships/notesMaster" Target="/ppt/notesMasters/notesMaster1.xml" Id="R79adc009060e43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f744c9d2f540d3" /><Relationship Type="http://schemas.openxmlformats.org/officeDocument/2006/relationships/notesMaster" Target="/ppt/notesMasters/notesMaster1.xml" Id="Rce079948fdff4b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6506ca4c9243eb" /><Relationship Type="http://schemas.openxmlformats.org/officeDocument/2006/relationships/notesMaster" Target="/ppt/notesMasters/notesMaster1.xml" Id="R75c72641bd7b4e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e25f2f5ba94123" /><Relationship Type="http://schemas.openxmlformats.org/officeDocument/2006/relationships/notesMaster" Target="/ppt/notesMasters/notesMaster1.xml" Id="R9ab3abb3762342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1df150fb2c4780" /><Relationship Type="http://schemas.openxmlformats.org/officeDocument/2006/relationships/notesMaster" Target="/ppt/notesMasters/notesMaster1.xml" Id="R6d5b86f895134c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17eeba32984137" /><Relationship Type="http://schemas.openxmlformats.org/officeDocument/2006/relationships/notesMaster" Target="/ppt/notesMasters/notesMaster1.xml" Id="R121a53a27c2341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2e7eea23e84d9a" /><Relationship Type="http://schemas.openxmlformats.org/officeDocument/2006/relationships/notesMaster" Target="/ppt/notesMasters/notesMaster1.xml" Id="R13e9efc9b61349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ee2f437962414c" /><Relationship Type="http://schemas.openxmlformats.org/officeDocument/2006/relationships/notesMaster" Target="/ppt/notesMasters/notesMaster1.xml" Id="R93c7e82dc32d4e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46db2944ee4e2e" /><Relationship Type="http://schemas.openxmlformats.org/officeDocument/2006/relationships/notesMaster" Target="/ppt/notesMasters/notesMaster1.xml" Id="Rbc1fb48ce20045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055ef11dbc41c9" /><Relationship Type="http://schemas.openxmlformats.org/officeDocument/2006/relationships/notesMaster" Target="/ppt/notesMasters/notesMaster1.xml" Id="Rcfa83f98e80047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096645ebd84832" /><Relationship Type="http://schemas.openxmlformats.org/officeDocument/2006/relationships/notesMaster" Target="/ppt/notesMasters/notesMaster1.xml" Id="Rda56a8451ee144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bfdb35b0034ecc" /><Relationship Type="http://schemas.openxmlformats.org/officeDocument/2006/relationships/notesMaster" Target="/ppt/notesMasters/notesMaster1.xml" Id="Re95a7c5bd58743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1b175e2a7c4cc2" /><Relationship Type="http://schemas.openxmlformats.org/officeDocument/2006/relationships/notesMaster" Target="/ppt/notesMasters/notesMaster1.xml" Id="R712278216a3e4d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2573363bc84203" /><Relationship Type="http://schemas.openxmlformats.org/officeDocument/2006/relationships/notesMaster" Target="/ppt/notesMasters/notesMaster1.xml" Id="R98c847357f1141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19733d047c4104" /><Relationship Type="http://schemas.openxmlformats.org/officeDocument/2006/relationships/notesMaster" Target="/ppt/notesMasters/notesMaster1.xml" Id="R2a08598039ed49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85d32f85ac42b3" /><Relationship Type="http://schemas.openxmlformats.org/officeDocument/2006/relationships/notesMaster" Target="/ppt/notesMasters/notesMaster1.xml" Id="R8233f9a5034346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72ae017774a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bedc1d5a59444e" /><Relationship Type="http://schemas.openxmlformats.org/officeDocument/2006/relationships/slideLayout" Target="/ppt/slideLayouts/slideLayout1.xml" Id="R05acd2b4a7ee45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acd2b4a7ee45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01e7ecffd4cf0" /><Relationship Type="http://schemas.openxmlformats.org/officeDocument/2006/relationships/notesSlide" Target="/ppt/notesSlides/notesSlide1.xml" Id="R0c88c1478f6f40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43cc13fe94422" /><Relationship Type="http://schemas.openxmlformats.org/officeDocument/2006/relationships/notesSlide" Target="/ppt/notesSlides/notesSlide2.xml" Id="R67fa0f662e5b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2a61632a74d8f" /><Relationship Type="http://schemas.openxmlformats.org/officeDocument/2006/relationships/notesSlide" Target="/ppt/notesSlides/notesSlide3.xml" Id="Rcc9edcb01d5042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d754241c54dfe" /><Relationship Type="http://schemas.openxmlformats.org/officeDocument/2006/relationships/notesSlide" Target="/ppt/notesSlides/notesSlide4.xml" Id="R23fed4c40c86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15de26f8e40ea" /><Relationship Type="http://schemas.openxmlformats.org/officeDocument/2006/relationships/notesSlide" Target="/ppt/notesSlides/notesSlide5.xml" Id="Re30fb746a1ce4a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8958e3bd34421" /><Relationship Type="http://schemas.openxmlformats.org/officeDocument/2006/relationships/notesSlide" Target="/ppt/notesSlides/notesSlide6.xml" Id="R349b40bba9dc47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37c0fdb244432" /><Relationship Type="http://schemas.openxmlformats.org/officeDocument/2006/relationships/notesSlide" Target="/ppt/notesSlides/notesSlide7.xml" Id="R96874c61fa814d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a411428f44d92" /><Relationship Type="http://schemas.openxmlformats.org/officeDocument/2006/relationships/notesSlide" Target="/ppt/notesSlides/notesSlide8.xml" Id="R535a863cac1f48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1c749817648c6" /><Relationship Type="http://schemas.openxmlformats.org/officeDocument/2006/relationships/notesSlide" Target="/ppt/notesSlides/notesSlide9.xml" Id="Raeb82d2cad074b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6cff7e02d4d76" /><Relationship Type="http://schemas.openxmlformats.org/officeDocument/2006/relationships/notesSlide" Target="/ppt/notesSlides/notesSlide10.xml" Id="R950320a613dc4b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c0d2256d241bf" /><Relationship Type="http://schemas.openxmlformats.org/officeDocument/2006/relationships/notesSlide" Target="/ppt/notesSlides/notesSlide11.xml" Id="R757413a5a44c48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fe0988f734c75" /><Relationship Type="http://schemas.openxmlformats.org/officeDocument/2006/relationships/notesSlide" Target="/ppt/notesSlides/notesSlide12.xml" Id="R48273e94feb946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a8a60b5c1404d" /><Relationship Type="http://schemas.openxmlformats.org/officeDocument/2006/relationships/notesSlide" Target="/ppt/notesSlides/notesSlide13.xml" Id="Rfb540faec0dd4e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f9aa39c854b63" /><Relationship Type="http://schemas.openxmlformats.org/officeDocument/2006/relationships/notesSlide" Target="/ppt/notesSlides/notesSlide14.xml" Id="R98ea5565455e40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a25c93d754b45" /><Relationship Type="http://schemas.openxmlformats.org/officeDocument/2006/relationships/notesSlide" Target="/ppt/notesSlides/notesSlide15.xml" Id="Rc871d5e793ac4f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177a9f2054c3f" /><Relationship Type="http://schemas.openxmlformats.org/officeDocument/2006/relationships/notesSlide" Target="/ppt/notesSlides/notesSlide16.xml" Id="Rb2e4fd4781eb4d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94101c81a4834" /><Relationship Type="http://schemas.openxmlformats.org/officeDocument/2006/relationships/notesSlide" Target="/ppt/notesSlides/notesSlide17.xml" Id="Rb4a6f038ed0a42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e09d8ff714b13" /><Relationship Type="http://schemas.openxmlformats.org/officeDocument/2006/relationships/notesSlide" Target="/ppt/notesSlides/notesSlide18.xml" Id="R5eee6943af8049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16C449-2A24-4323-BBFE-39F850F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PROJECT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DE92C-8B2B-4F04-8464-899899AF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EduTrack Ghana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EE5AE-7E7A-4D5E-B09B-3DE3069E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24125"/>
            <a:ext cx="742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Web-Based Learning, Progress Tracking, Reporting, and Machine Learning Support System for JHS Education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C2BE3-06E0-4402-84D2-89CABF15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38200"/>
            <a:ext cx="3333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E08DD-96FD-4E7B-AE7C-AFF6C96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7146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Students</a:t>
            </a:r>
          </a:p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Teachers</a:t>
            </a:r>
          </a:p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Administrators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A01FD-0F95-4D98-A916-637691DD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Digital learning • quizzes • progress • reports • recommendations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E8C35-A3C8-4132-93E1-4D482B7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0566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2C99F-DE9E-40C0-8924-571FD552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F47C1-9C0F-445A-AD85-8013593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6E9DB-676C-470D-813D-4FD5C38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92F90-340A-45D5-AB55-E586202D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Education in Ghanaian Junior High Schools requires continuous monitoring of topic completion, quiz performance, and teacher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ACBB2-3716-4A69-AC1D-BA837FF1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Manual tracking makes it difficult to identify weak learners early.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Teachers need quicker ways to prepare reports and monitor progress.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Students need clearer guidance on what to revise next.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EduTrack Ghana brings learning, assessment, reporting, and ML support into one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8F3EC-2DCB-4516-A09D-6565984E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319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9D80FA-D8AC-4659-93C1-6A4575F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4E0B0-BCBA-4099-A7B6-608A9B53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90A9C-5883-4397-900F-E43BCE56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5B3D1-4B54-4420-898E-8B296CF4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07CB9-2B12-4D1C-9CA6-427C35D0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E031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48634-D98E-4745-AD2A-BDDA0A30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3131"/>
                </a:solidFill>
              </a:defRPr>
            </a:pPr>
            <a:r>
              <a:rPr sz="1800" b="1">
                <a:solidFill>
                  <a:srgbClr val="E0313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2FF78-7874-47EF-954B-337581A4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Limited progress visibility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70B04-60FF-4AD5-BEB9-EEDF4218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05075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Teachers may not quickly see each learner’s weak areas, topic progress, or quiz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647B6-0443-4304-9676-E4AEFAA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45393-1F46-4FB8-AC19-EC39AC7C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F08C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7245D-466F-4AE1-A3E4-B15C55F4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8C00"/>
                </a:solidFill>
              </a:defRPr>
            </a:pPr>
            <a:r>
              <a:rPr sz="1800" b="1">
                <a:solidFill>
                  <a:srgbClr val="F08C00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99668-DC22-418E-9B90-0154D61A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671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Slow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F1839-7CDD-4240-915E-7265849A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86200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Manual reports take time and can delay parent or guardian feedback.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72861-27E3-4473-BD01-CDDEED92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41334-512D-4E97-961A-9671B82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6519E-AC5D-46F6-9337-CD50D68D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A6EF4-91AC-4BC6-99B1-B0D622DD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4822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Weak personalization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7A2F2-48A8-4DD4-89C4-45DEA2E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67325"/>
            <a:ext cx="377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Students may not know which topics to revise first without data-driven guidance.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AB29F-F591-49C0-ACBD-303373FA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Core 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29D79-E68F-477E-BADD-C4265CF1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How can a school track learning continuously, support weak learners early, and generate clear reports using one secure digital platform?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6A4A8-93BD-4199-9868-62484319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6795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908C5-D421-4AA7-9990-AC4083B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CD277-9ECC-4FE5-94CE-09D75F0D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1E976-8E4F-4FBC-82B1-41833FE3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00884-87CF-46F7-B0E6-17615AD0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EE339-80A8-4EDB-97F8-E210E765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8AF57-C7E5-44A6-893E-6A85B0F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7216B-6DD2-4624-B4EB-F6CE205E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Provide students with digital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16C8F-C4F9-40A0-A112-216D8462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050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Provide students with digital access to topics and quizzes.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6FC4E-0045-4F4A-999A-B391506C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953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A42DB-C822-48DF-A041-2D113B8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C3420-7D76-49DF-A38A-7C58853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</a:defRPr>
            </a:pPr>
            <a:r>
              <a:rPr sz="1800" b="1">
                <a:solidFill>
                  <a:srgbClr val="2F9E4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48E23-BF23-47ED-9FD1-D41DE004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051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Track quiz scores, topic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A8AFD-44C5-44C9-84AD-6B43D514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242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Track quiz scores, topic completion, points, badges, and progress.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C765A-386F-46F0-AEA6-AFFD94E7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953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41F8A-DA90-4452-A53F-111AC542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C6DC4-A701-4E11-81B4-6EF87BDF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49DD5-486C-4CC6-8341-2DB5C511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243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Help teachers monitor 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357AF-E13E-4D19-80B0-9489579F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434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Help teachers monitor performance and generate reports.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4F644-405A-4B03-982E-E8E855B2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953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06D3C-6693-4C60-AA47-AEE32B76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4CAA6-F9D4-4603-8619-290AA4B5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43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</a:defRPr>
            </a:pPr>
            <a:r>
              <a:rPr sz="1800" b="1">
                <a:solidFill>
                  <a:srgbClr val="2F9E44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870EC-A2C0-4B22-A3C2-6C4713A4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859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Allow administrators to manage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53496-415B-4F95-80AD-6C19D785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050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Allow administrators to manage users, topics, subjects, logs, and announcements.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53135-C5C5-4806-A82D-2667C48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71825"/>
            <a:ext cx="4953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FCF32-B7EB-479D-ADFA-1FE10DB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71825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033FFC-E901-476F-86E2-49A5741F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623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46B70-FA9F-4D83-93CF-B705BAE9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051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Use machine learning for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16085E-FED4-45D2-B9BE-9A8AE55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242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Use machine learning for recommendations and exam-readiness support.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B23BD-7489-4D0A-9621-7F28070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91025"/>
            <a:ext cx="4953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7A52FC-5D26-4353-83E6-B9D58EEC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91025"/>
            <a:ext cx="76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ADAFB-8184-4F40-97A5-BE4A567C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815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</a:defRPr>
            </a:pPr>
            <a:r>
              <a:rPr sz="1800" b="1">
                <a:solidFill>
                  <a:srgbClr val="2F9E44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36BC19-B526-40EE-AC73-0DE88CB4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243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Improve communication among students,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18E71C-56B9-47F8-88B5-C11CA09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43475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Improve communication among students, teachers, admins, and parents.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ECDD7-30AD-440C-9F0E-4DCA2B8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2345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1D6EA-B7AE-4ADE-982E-B07107C3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6E1A3-CE81-4EC7-83BF-9FFCCC9F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Significance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E2568-E45D-4ED2-9B9A-8AF647D6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A7378-9E7B-45C2-8C3C-00BD790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1DFE9-3FF0-4E7E-ADD8-A07D4AC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810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Students receive lessons, quizzes, feedback, badges, and recommendations.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Teachers monitor performance and identify weak areas.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Administrators manage users, content, announcements, and logs.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Parents receive clearer performance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09E29-0BF8-48D2-A857-BB337142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88461-3EB1-47D0-8C4C-6C2DCFCA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429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Covers JHS learning support, assessment, reporting, announcements, violations, and ML support.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Does not cover fees, timetable management, hostel management, or national exam registration.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47184-4C72-4E4C-9745-D1F7B3EB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2A07E-323A-42F6-A018-22C9390B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Focus: learning management and progress tracking for JHS education.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FE287-3F80-4C5F-91E8-E1450902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8544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28E33-5038-4A83-A9C4-8AE2BF97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78BC4-8172-4EEF-A316-E02FD770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Literature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6E483-15AC-4126-848D-904196E5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E7927-089D-4EFA-BD1C-0CA37C17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62543-8E8C-4262-96C9-5A929163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E4BF8-5FA2-4748-953A-ADB4C079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DCAAA-6978-4F21-86E8-1064DACA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Existing systems / technologies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D7E25-702B-4B42-8E21-7837570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526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15649-A0C5-45F6-9BFA-84A17421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47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EduTrack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52932-3434-41A6-9591-80CD098D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2C888-5780-4F7B-BD1C-F6ADEEA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4BAF7-7433-48D4-8E21-EE879A52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669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EC4FB-6F48-4260-9BED-F59ECD01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62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Moodle, Google Classroom, Canvas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B2F43-5FC4-4A5D-950C-A928811C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669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5EF70-2952-43EB-AB9F-59CCDF3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62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JHS-focused learning, quizzes,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3596C-3F2F-409E-A395-694A14D6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082F1-76B1-455C-A13E-38465166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Student information 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F9AA3-5BC0-4A0A-944A-0D655445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813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EE23A-A55F-4079-BAAD-D17D2004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765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Records, grades, attendance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324A1-EC1F-48CB-BCBC-680F287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8618E-08CD-4ABF-A27D-D2A4CA37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765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Adds progress tracking and learning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6F6FC-14EC-4991-8229-F1B233FC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24D7E-B69C-4899-9A21-426F73AA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CBT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92323-1671-41BE-9E17-53AC8F75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956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A10D2-9451-48C7-BB2D-436AF0CF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909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Online tests and scoring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8AA179-3B33-486B-B28E-97515DB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956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5FF927-40C7-444B-93CC-C99294F3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909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Adds adaptive quizzes and explanations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07BA7-BE47-4BEC-9EC5-C0CA5CF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DFACB2-F88C-43F7-ADF7-4D7003E4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Educational analytics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CAE4B-91B8-41A1-AC0F-DECD7FE7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100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F2BFA-2100-466B-B45A-A2AF061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052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Dashboards and risk indicators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F7A8D1-C92E-41FD-962B-B7F68B0F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002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F9C669-F237-4EF3-870F-4FFA7F1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052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Adds teacher reports and ML recommendations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B77550-93E0-49DF-BF83-A95D024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8470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5205C-57CF-46D9-836B-6597802B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BF39D-DB90-47BE-9EFC-D82228D7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Developed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A6A95-5C4B-46D3-9026-001022A5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69EA4-B355-4B9C-8971-416A3FE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0BAC1-9506-45E5-A0C2-039DEBD2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7ED6"/>
                </a:solidFill>
              </a:defRPr>
            </a:pPr>
            <a:r>
              <a:rPr sz="2250" b="1">
                <a:solidFill>
                  <a:srgbClr val="1C7ED6"/>
                </a:solidFill>
              </a:rPr>
              <a:t>Student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9745B-9102-4E3E-BD5D-1DE63DF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Study topics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Take quizzes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View progress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Earn badges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177B9-9B2D-4E03-80B5-0379DE0A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143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3578C-4672-4BA7-8878-322C52C8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9E44"/>
                </a:solidFill>
              </a:defRPr>
            </a:pPr>
            <a:r>
              <a:rPr sz="2250" b="1">
                <a:solidFill>
                  <a:srgbClr val="2F9E44"/>
                </a:solidFill>
              </a:rPr>
              <a:t>Teacher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EF7AC-CA37-4DCB-B5AF-BE5F835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Create quizzes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Monitor students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Send announcements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Generate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010CD-B9A8-41A5-B83C-B2E07F95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143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0CACB-FA51-443C-BC7B-84782026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8C00"/>
                </a:solidFill>
              </a:defRPr>
            </a:pPr>
            <a:r>
              <a:rPr sz="2250" b="1">
                <a:solidFill>
                  <a:srgbClr val="F08C00"/>
                </a:solidFill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EE243-4A4C-4B13-995D-9CC201E5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Manage users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Approve topics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Review logs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Handle violations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862A6-1CDB-4C0E-8F61-7530E0B3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Built with PHP, MySQL/MariaDB, HTML, CSS, JavaScript, and Python Flask.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064B4-287A-4D33-8DF7-D6EAC701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590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DA0DC-D596-4505-93A7-F27212A0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ACBD1-462F-4087-B9F0-BB7D0976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54005-63AF-4533-9E19-F44602A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32C2B-469E-4D26-884E-597B2ABC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Agile methodology with prototyping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5CEEF-3DE6-40BD-9F52-3C9A9A0C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The system was developed in modules, tested repeatedly, and improved step by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64A68-5502-488D-BDA3-D1B5A2E8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D19BC-9DFD-49CC-9DCF-3ECEFF13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7EBF6-C6D8-4078-A411-3E607BD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529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1D9F7-118D-4A5E-9EF2-7A9D1E1F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AE6D1-C752-420B-AB47-83B7AB46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BFDCD-8D0F-407A-BFC0-69C80512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529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874CC-7E90-438A-BFEA-5E33B9BC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005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2971F-A031-4B6B-B872-12EDF65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10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Database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B2A31-8846-47A2-9BB2-8E66EB8F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529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CD42A-F349-4DB5-B2B4-8EDF006C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A99A7-872C-4089-B174-EA36FFE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Interface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884D3-A9B4-4E38-916E-4F7716D1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C3C65-4A5E-467C-AD44-141E6CB1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490BA-D2DC-4401-90BA-B34A7AA2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9D4D7-5259-4ADC-989C-0E062E5A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F6116-F64D-43DA-B5C9-5AFDF7A6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47938-8A5B-4A21-B80C-BD6C37B9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0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8A009-4DEB-4554-A0FB-D23A80C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529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CEA04-0BFB-432B-937F-11B7D9E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4922B-EF12-40D8-BB0E-2662BFB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0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Evaluation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2A0A0F-2E8F-46FD-96B8-63DD2EC9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2316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10D1F-D0E2-40A3-A5E4-82460B27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C1DDA-26B5-4C25-AA56-24BA98CB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Requirements and 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D5232-EE6D-4F78-8D17-D7A56EB0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2D981-0201-429A-B924-4F12AB90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Functional 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BDAD7-3846-4948-9AFE-C9795E4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Student registration, topics, quizzes, progress, badges.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Teacher quiz creation, analytics, reports, announcements.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Admin user management, topic approval, logs, violations.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ML predictions, recommendations, and transcription.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3190F-A28E-4ED4-97CE-0169BA88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Non-functional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2FD07-8ADD-480D-84CE-1F03F976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Security through hashing, CSRF, roles, and prepared SQL.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Reliable fallback when ML service is unavailable.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Maintainable modular structure.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Usable through a browser on a local or hosted server.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5688B-F604-4722-9852-6A9C74BB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38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3AB6E-A332-4BAA-861E-752BC0A1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Design pattern: browser interface -&gt; PHP application logic -&gt; MySQL database -&gt; optional Python Flask ML service.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2371C-02D1-4076-925D-A8FE9FD1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326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30F33-E651-4961-BBD9-5ABB803C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AB2D6-CED0-4385-87A7-7803D291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2148D-518E-4A44-B7AE-239F4D2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256FF-B697-41FB-B382-09E0BD0E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332E8-F8B5-4C76-BA8F-7F4E00F7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59D9A-06B0-4798-916B-FCE6100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4787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D16EF-BAC4-4CAB-8779-95B55B0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669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Student module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65C2A-FD47-47D6-B6F1-CE3B2B2E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4787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510C0-0420-4E41-8768-E2512277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Teacher module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C61DC-A77B-4074-B51D-89B068EB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4787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6B1F-6A39-4068-ADD9-E22C5D64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669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Admin 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36FD2-8964-4219-86DC-DDE32ED4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FE354-7263-407C-877C-7C663AC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Quiz &amp;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E2D6E-C5B8-4441-B0BF-205D66F1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480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436DE-DFD4-4EFB-A0C5-A8BF38D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67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Progress tracking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7FB9C-892C-466D-8C28-6F9E49E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26060-8F79-46A8-946C-1A3760FE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67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B7AAA-E204-486E-8BB7-BC9C43D7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144A0-92BF-4C81-B5C7-B80C1F20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67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Announcements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A832D-C19B-4D1B-BF78-51619916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B355E-D063-4A50-A5B1-7D9C63AB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Violations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62242-5E34-4A8F-8C17-CCAD7588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4812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EEE5E-ADB0-4880-9116-79233D04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672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ML module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89462-AD35-450B-87D7-E6FAEE10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DBB1E-0D11-4E37-B637-AE558DC1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Accessibility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3A20B-8408-4058-AB4A-BF2503DC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PHP controls pages and database operations; Flask handles ML services such as prediction, recommendation, profiling, and transcription.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FB22D-F2AD-470D-8B8C-6DD1A0D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3064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A121A9-8822-4267-9B70-C0B81C6C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EC0A2-B04C-4FF6-8556-A787726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B5594-BAC5-4D46-82E0-7B6D0A06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01110-9E46-415F-BE86-D85A4EC3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57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Testing covered both correctness and security.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2EDB7-7419-4B26-B2F4-A821179D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Functional testing: registration, login, quizzes, reports.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Validation testing: email, password, phone, quiz answers.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Security testing: roles, CSRF tokens, protected pages.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Database testing: save, update, retrieve, and prevent duplicates.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Regression testing: tests/php/run.php checks validation, CSRF, roles, ML safety, and metadata.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72D46-5B4F-4DDA-BB8E-DE2C9448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143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6C337-CB2A-431C-8AC3-9C52A0E2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Key test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25B2-BECE-473F-8629-072BBDA2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tests/php/run.php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EB631-5A64-434B-806F-1BC1C98C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Checks authentication rules, validation, ML prediction bounds, recommendation output, and active model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684E0-5815-48F4-A104-98BB43C9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83310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3872CE-0385-4287-983E-21823AFE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7D4FF-CDE1-44E9-856A-90192BAA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Deployment and Documentation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3BD8A-F679-4A38-B615-CE1F6DD0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E408D-3C8D-43AC-B21E-D14835F1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Local deployment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E1E59-2AB5-4BE3-A8DC-E3973144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Project folder: C:\xampp\htdocs\edutrack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Database: edutrack_ghana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Import: edutrack_ghana.sql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Apply ML migration scripts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Open: http://localhost/edutrack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Run ML: python ml/ml_service.py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F8D9D-1C15-4FE8-A0A2-37E0CE3B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Documentation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420BB-89F0-4C6A-9F8B-D25EAF47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DEFENSE_STUDY_GUIDE.md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CODEBASE_DATABASE_SECURITY_ML_GUIDE.md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ML_DFD_IMPLEMENTATION.md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ML_IMPLEMENTATION_STATUS.md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GES_MCQ_AUTHORING_STANDARD.md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9944A-5BA4-47A4-B5D8-9508C540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958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D74A1-CD00-4405-ABB8-29FB3C7D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63EBA-CEDA-4CB7-BE97-B5623BB7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Implementation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A339-B825-405B-A820-49FE4D3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E3C5D-B538-4284-932C-B6CBFD4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9BB45-98B8-4DF8-87D3-112C8D2A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E0313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1AF80-07B7-4DEA-802F-5BD7D7E1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3131"/>
                </a:solidFill>
              </a:defRPr>
            </a:pPr>
            <a:r>
              <a:rPr sz="1800" b="1">
                <a:solidFill>
                  <a:srgbClr val="E0313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FD041-CEAB-4F90-BDD7-9719250D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Managing three user roles securely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FEA02-8030-477F-B595-EF93D664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D09E9-78C6-4AF9-A9DF-2F1A020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F08C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E78CD-CB13-46DD-9D5F-B19715A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8C00"/>
                </a:solidFill>
              </a:defRPr>
            </a:pPr>
            <a:r>
              <a:rPr sz="1800" b="1">
                <a:solidFill>
                  <a:srgbClr val="F08C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45691-067E-4784-9B81-E1DF035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622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Designing many related database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9BBC9-E2A0-4603-8DC4-8A14B72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11B59-CF94-4AC7-B5E9-8A40777B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AD63D-052A-4711-A35D-C1BD6509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4BBCA-1A7C-49D8-B8FE-258D29AC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385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Tracking adaptive quiz question IDs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E58B2-76E3-41B6-8A43-99E439CE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463F9-09F2-4901-81AD-50B590F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E031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653D0-99FD-4C5E-B6AF-2D299C53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3131"/>
                </a:solidFill>
              </a:defRPr>
            </a:pPr>
            <a:r>
              <a:rPr sz="1800" b="1">
                <a:solidFill>
                  <a:srgbClr val="E0313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0FD35-4789-4B3C-BD53-52621DA4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148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Preventing duplicate points and badges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69436-7393-46DA-9653-3547EABE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DEE73-5DB7-4FB8-9ACD-AD9744E7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F08C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CB927-806C-40F9-BA16-12D662F3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43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8C00"/>
                </a:solidFill>
              </a:defRPr>
            </a:pPr>
            <a:r>
              <a:rPr sz="1800" b="1">
                <a:solidFill>
                  <a:srgbClr val="F08C00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6F65E-1587-4592-9374-57CCD642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859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Connecting PHP with Python Flask 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02E23-5B11-4EB0-8D44-4F70FF76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E2ED0-B332-4551-A91C-959B48AE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289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90C1A-6523-4B39-AF04-E0DDE12F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194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29E23-5967-43D6-BA0E-47C4FDE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622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Handling insufficient ML data responsibly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40C8BF-8FA1-435D-9445-55346768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6FE4D-481E-43DF-94EE-98267015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131"/>
          </a:solidFill>
          <a:ln xmlns:a="http://schemas.openxmlformats.org/drawingml/2006/main" w="0">
            <a:solidFill>
              <a:srgbClr val="E0313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EDD65A-4F67-40D0-AF78-BA4DB39B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957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3131"/>
                </a:solidFill>
              </a:defRPr>
            </a:pPr>
            <a:r>
              <a:rPr sz="1800" b="1">
                <a:solidFill>
                  <a:srgbClr val="E03131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039D79-CE47-4D94-9BD3-FAD00C2D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Testing many connected modules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307E03-DBB1-4F2F-9B31-D5EED707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81525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0610E-F9EB-464A-8291-8D75CC0F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815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C00"/>
          </a:solidFill>
          <a:ln xmlns:a="http://schemas.openxmlformats.org/drawingml/2006/main" w="0">
            <a:solidFill>
              <a:srgbClr val="F08C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481DE-851D-4111-9742-B0CD247B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720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8C00"/>
                </a:solidFill>
              </a:defRPr>
            </a:pPr>
            <a:r>
              <a:rPr sz="1800" b="1">
                <a:solidFill>
                  <a:srgbClr val="F08C00"/>
                </a:solidFill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F3D2FE-97AE-4B0C-A69D-6A87B57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148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Configuring local XAMPP and ML services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EF052F-50B5-42C1-96D4-E0AC924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84023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63B5AB-A233-4AD1-B898-A43BB5E3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79229-7213-4856-8575-6FBC6E7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Machine Learning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CCD32-2235-43CD-A66F-3A82D89F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6ABBD-6256-4D4F-BC9B-E7F9BDA8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B2FDF-7BEF-4085-8ED3-D0042E35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37AF5-01BE-4B49-84D2-2E92375A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1BFEF-2745-4849-9154-848A6559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Ridge Regression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48A27-AABD-4F48-A2E0-C36D6B49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05075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Baseline exam-readiness predictor.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6BF69-5FAD-4244-AEC2-42A6C1E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D878E-4338-4B2C-9D2F-2F8DF68B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E4DD8-E0FF-4B35-8A49-74CDEA8F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</a:defRPr>
            </a:pPr>
            <a:r>
              <a:rPr sz="1800" b="1">
                <a:solidFill>
                  <a:srgbClr val="2F9E44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E0809-662A-4F6D-9ACF-1D5B0B35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051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Personal Linear Trend Fallback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975EA-E602-4A84-8F19-09380973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24275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Uses a student’s own score history when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2373E-40EC-4CD2-A4BE-B8921BC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E3D90-80D6-44DD-BD53-41955B3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28B52-6DA8-4C5A-900E-89C948BA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261A3-2AE4-4EC9-9807-07C49FC9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243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XGBoost Prediction and Risk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A6A36-7164-4BBD-AB4E-9F5325C6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43475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Advanced performance and risk prototype.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97546-F989-43DC-8CF2-A3A9214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4C5FC-CB8D-47D0-B9B8-515E677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3C81A-4A3C-461E-A6FE-DE9F7D7A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43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</a:defRPr>
            </a:pPr>
            <a:r>
              <a:rPr sz="1800" b="1">
                <a:solidFill>
                  <a:srgbClr val="2F9E44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23F77-C584-4FED-ACB7-3D515EB4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859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TensorFlow Learner Profile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ADB62-4864-4B92-93E6-3853D2F3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05075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Groups learners into learning segments.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4D539-BB97-4820-A7EB-3FD48A76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718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66D73-ACAE-4EC5-8087-45F36F66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7182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31585-7C05-479A-87BB-B9FB4B9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623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7ED6"/>
                </a:solidFill>
              </a:defRPr>
            </a:pPr>
            <a:r>
              <a:rPr sz="1800" b="1">
                <a:solidFill>
                  <a:srgbClr val="1C7ED6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0D1B3F-523E-4D50-80C1-98A37E16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051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TensorFlow Contextual Bandit Recommendation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16E90-CE54-479A-80A3-DF7888D2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24275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Ranks best topics to study next.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C2EA8-558A-4B04-B200-BEA54B62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91025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6D48E-C306-454C-BA6C-3BA856C6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91025"/>
            <a:ext cx="76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2C7CF-A108-4B21-B099-9F9AB7D3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815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9E44"/>
                </a:solidFill>
              </a:defRPr>
            </a:pPr>
            <a:r>
              <a:rPr sz="1800" b="1">
                <a:solidFill>
                  <a:srgbClr val="2F9E44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7C608C-31B8-44FB-82B1-9DE30F37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24375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Whisper Speech Transcription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4BD1F-99BB-48ED-9E46-D9561C33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43475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Converts recorded audio into text.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603987-5BA8-4E02-A830-87357835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30538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4E06C-082B-420D-820E-2EE64FF3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28F8B-DD44-4599-AA72-B7AB4EDD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DB06E-EEBD-40AB-A5FD-25D3046B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83CBB-3AF5-403C-A7D7-EDA1466A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EduTrack Ghana combines learning management, assessment, reporting, security, and machine learning support in one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952B0-4F48-4BA4-99C5-B53D6332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42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Students learn, take quizzes, view progress, earn badges, and receive recommendations.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Teachers monitor students, create quizzes, view analytics, and generate reports.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Admins manage users, subjects, topics, announcements, violations, and logs.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ML supports learner profiling, topic recommendation, exam-readiness prediction, and transcription.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66800-8154-47F2-BCA2-ADBE8F9C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41011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797F4-6457-4ECF-8981-5C24442C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93BE2-DF1A-4E4F-BC12-FAF1234F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Limitations and 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AA249-4E58-4833-9FD4-2FDD668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BB4E2-2905-49AF-9371-886A23BF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91A33-43CA-4517-B866-0EEFFF8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Currently deployed locally with XAMPP.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ML models need more verified final exam data.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Prediction is a planning estimate, not an official result.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Whisper is pretrained, not Ghanaian-accent fine-tuned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FDA34-297E-4D79-8EF2-9F02B2C7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Future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A3E67-A57C-48D6-8DCA-CD8477E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Deploy online with HTTPS.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Collect verified exam labels.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Fine-tune Whisper with consented local audio.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Add SMS notifications and mobile support.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Add school-head dashboards and intervention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C51D8-9A9E-431B-8DA0-3307303D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481916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4E9A5-25EF-4CFF-B8C3-0D8183A9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A900D-BD15-4456-8854-875A782C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EC949-3C0E-46EA-A6E5-A9464C32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BA8B9-4B43-4BFD-897D-A659CF19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Schools should adopt digital progress tracking to improve academic monitoring.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Teachers should use analytics to identify weak areas early.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Administrators should regularly review users, content, logs, and reports.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More verified performance data should be collected to strengthen ML accuracy.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The system should be deployed with HTTPS, strong credentials, and restricted database access.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Parents should review reports and support learners at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586AD-1F40-4B43-99EF-289214F4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71758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103E4-3E52-4B04-9423-BA001087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EduTrack Ghana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5B0B3-5483-400B-BF84-294C78F9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02104-C74A-4796-8B99-1DFF435A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E342B-F33E-4E07-8489-678F1A5F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EduTrack Ghana demonstrates how technology can support teaching, learning, monitoring, and decision-making in Ghanaian Junior High Schools.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8C744-F23C-470D-9916-596131BC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334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A429E-CB50-4482-83DA-21657EBB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862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The system helps students learn better, helps teachers monitor performance, helps administrators manage school learning activities, and uses machine learning as an intelligent support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7A187-A28B-4BAE-8599-6BCA6016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7ED6"/>
                </a:solidFill>
              </a:defRPr>
            </a:pPr>
            <a:r>
              <a:rPr sz="3300" b="1">
                <a:solidFill>
                  <a:srgbClr val="1C7ED6"/>
                </a:solidFill>
              </a:rPr>
              <a:t>Thank you.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F5E21-3E37-4E4C-B2FA-6F55ECD3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43569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2026-06-26T20:55:20.3130000Z</dcterms:created>
  <dcterms:modified xsi:type="dcterms:W3CDTF">2026-06-26T20:55:20.3130000Z</dcterms:modified>
</coreProperties>
</file>