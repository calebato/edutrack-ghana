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2" r:id="rId6"/>
    <p:sldId id="273" r:id="rId7"/>
    <p:sldId id="274" r:id="rId8"/>
    <p:sldId id="260" r:id="rId9"/>
    <p:sldId id="261" r:id="rId10"/>
    <p:sldId id="262" r:id="rId11"/>
    <p:sldId id="264" r:id="rId12"/>
    <p:sldId id="267" r:id="rId13"/>
    <p:sldId id="269" r:id="rId14"/>
    <p:sldId id="271" r:id="rId15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3619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hyperlink" Target="https://upsa.edu.gh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43940" y="160742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Aptos"/>
              </a:rPr>
              <a:t>UNDERGRADUATE IT PROJECT WORK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58368" y="2395331"/>
            <a:ext cx="3657600" cy="0"/>
          </a:xfrm>
          <a:prstGeom prst="line">
            <a:avLst/>
          </a:prstGeom>
          <a:noFill/>
          <a:ln w="50800">
            <a:solidFill>
              <a:srgbClr val="C795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20874" y="2897522"/>
            <a:ext cx="9288272" cy="12755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Project Title: EDUTRACK GHANA - WEB-BASED LEARNING, PROGRESS TRACKING, REPORTING, AND MACHINE LEARNING SUPPORT SYSTEM FOR JHS EDUCATION</a:t>
            </a:r>
          </a:p>
        </p:txBody>
      </p:sp>
      <p:sp>
        <p:nvSpPr>
          <p:cNvPr id="8" name="Text 5"/>
          <p:cNvSpPr/>
          <p:nvPr/>
        </p:nvSpPr>
        <p:spPr>
          <a:xfrm>
            <a:off x="5478780" y="4818889"/>
            <a:ext cx="7632192" cy="1531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just"/>
            <a:r>
              <a:rPr sz="1900" b="1">
                <a:solidFill>
                  <a:srgbClr val="C48E14"/>
                </a:solidFill>
                <a:latin typeface="Aptos"/>
              </a:rPr>
              <a:t>Caleb Ato Amoah-Ampah - 10303931</a:t>
            </a:r>
          </a:p>
          <a:p>
            <a:r>
              <a:rPr sz="1900" b="1">
                <a:solidFill>
                  <a:srgbClr val="C48E14"/>
                </a:solidFill>
                <a:latin typeface="Aptos"/>
              </a:rPr>
              <a:t>EduTrack Ghana Project Defense</a:t>
            </a:r>
          </a:p>
          <a:p>
            <a:r>
              <a:rPr sz="1900" b="1">
                <a:solidFill>
                  <a:srgbClr val="C48E14"/>
                </a:solidFill>
                <a:latin typeface="Aptos"/>
              </a:rPr>
              <a:t>Department of Information Technology</a:t>
            </a:r>
          </a:p>
        </p:txBody>
      </p:sp>
      <p:sp>
        <p:nvSpPr>
          <p:cNvPr id="9" name="Text 6"/>
          <p:cNvSpPr/>
          <p:nvPr/>
        </p:nvSpPr>
        <p:spPr>
          <a:xfrm>
            <a:off x="11109960" y="6236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pic>
        <p:nvPicPr>
          <p:cNvPr id="2" name="Image 0" descr="/mnt/data/it_outline_extracted/word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380" y="201168"/>
            <a:ext cx="2788920" cy="9509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951E"/>
          </a:solidFill>
          <a:ln w="12700">
            <a:solidFill>
              <a:srgbClr val="C795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02920" y="8412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71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1292840" y="63642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50" b="0">
                <a:solidFill>
                  <a:srgbClr val="000000"/>
                </a:solidFill>
                <a:latin typeface="Aptos"/>
              </a:rPr>
              <a:t>02</a:t>
            </a:r>
          </a:p>
        </p:txBody>
      </p:sp>
      <p:sp>
        <p:nvSpPr>
          <p:cNvPr id="9" name="Text 6"/>
          <p:cNvSpPr/>
          <p:nvPr/>
        </p:nvSpPr>
        <p:spPr>
          <a:xfrm>
            <a:off x="731520" y="1801368"/>
            <a:ext cx="512064" cy="512064"/>
          </a:xfrm>
          <a:prstGeom prst="ellipse">
            <a:avLst/>
          </a:prstGeom>
          <a:solidFill>
            <a:srgbClr val="071B49"/>
          </a:solidFill>
          <a:ln>
            <a:solidFill>
              <a:srgbClr val="071B4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17320" y="1783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71B49"/>
                </a:solidFill>
              </a:rPr>
              <a:t>General Introduction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663440" y="178308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600"/>
              <a:t>Background, problem, aim/objectives, significance and scope.</a:t>
            </a:r>
          </a:p>
        </p:txBody>
      </p:sp>
      <p:sp>
        <p:nvSpPr>
          <p:cNvPr id="12" name="Shape 9"/>
          <p:cNvSpPr/>
          <p:nvPr/>
        </p:nvSpPr>
        <p:spPr>
          <a:xfrm>
            <a:off x="987552" y="2368296"/>
            <a:ext cx="0" cy="393192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731520" y="2651760"/>
            <a:ext cx="512064" cy="512064"/>
          </a:xfrm>
          <a:prstGeom prst="ellipse">
            <a:avLst/>
          </a:prstGeom>
          <a:solidFill>
            <a:srgbClr val="C7951E"/>
          </a:solidFill>
          <a:ln>
            <a:solidFill>
              <a:srgbClr val="C7951E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417320" y="2633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71B49"/>
                </a:solidFill>
              </a:rPr>
              <a:t>Literature Review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663440" y="263347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</a:rPr>
              <a:t>Context, existing systems/technologies and developed system.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87552" y="3218688"/>
            <a:ext cx="0" cy="393192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31520" y="3502152"/>
            <a:ext cx="512064" cy="512064"/>
          </a:xfrm>
          <a:prstGeom prst="ellipse">
            <a:avLst/>
          </a:prstGeom>
          <a:solidFill>
            <a:srgbClr val="F28A28"/>
          </a:solidFill>
          <a:ln>
            <a:solidFill>
              <a:srgbClr val="F28A2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417320" y="34838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71B49"/>
                </a:solidFill>
              </a:rPr>
              <a:t>Methodology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663440" y="3483864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</a:rPr>
              <a:t>Development approach, problem crystallization, requirements and system design.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87552" y="4069080"/>
            <a:ext cx="0" cy="393192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731520" y="4352544"/>
            <a:ext cx="512064" cy="512064"/>
          </a:xfrm>
          <a:prstGeom prst="ellipse">
            <a:avLst/>
          </a:prstGeom>
          <a:solidFill>
            <a:srgbClr val="3C5A99"/>
          </a:solidFill>
          <a:ln>
            <a:solidFill>
              <a:srgbClr val="3C5A9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417320" y="4334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71B49"/>
                </a:solidFill>
              </a:rPr>
              <a:t>Implementation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663440" y="4334256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</a:rPr>
              <a:t>Testing, deployment, documentation and implementation challenges.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87552" y="4919472"/>
            <a:ext cx="0" cy="393192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731520" y="5202936"/>
            <a:ext cx="512064" cy="512064"/>
          </a:xfrm>
          <a:prstGeom prst="ellipse">
            <a:avLst/>
          </a:prstGeom>
          <a:solidFill>
            <a:srgbClr val="4D7C0F"/>
          </a:solidFill>
          <a:ln>
            <a:solidFill>
              <a:srgbClr val="4D7C0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417320" y="51846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71B49"/>
                </a:solidFill>
              </a:rPr>
              <a:t>Summary &amp; Conclusion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4663440" y="518464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</a:rPr>
              <a:t>Summary, limitations, future work, recommendations and conclusion.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858000" y="57150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1F7ED6"/>
                </a:solidFill>
                <a:latin typeface="Aptos"/>
              </a:rPr>
              <a:t>Expanded defense flow: template structure plus ML, testing/challenges, and conclusion slides</a:t>
            </a:r>
            <a:endParaRPr lang="en-US" sz="1300" dirty="0"/>
          </a:p>
        </p:txBody>
      </p:sp>
      <p:pic>
        <p:nvPicPr>
          <p:cNvPr id="3" name="Image 0" descr="/mnt/data/it_outline_extracted/word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8016"/>
            <a:ext cx="201168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951E"/>
          </a:solidFill>
          <a:ln w="12700">
            <a:solidFill>
              <a:srgbClr val="C795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02920" y="8412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000000"/>
                </a:solidFill>
                <a:latin typeface="Aptos"/>
              </a:rPr>
              <a:t>Background of the Study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1292840" y="63642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50" b="0">
                <a:solidFill>
                  <a:srgbClr val="000000"/>
                </a:solidFill>
                <a:latin typeface="Aptos"/>
              </a:rPr>
              <a:t>03</a:t>
            </a:r>
          </a:p>
        </p:txBody>
      </p:sp>
      <p:pic>
        <p:nvPicPr>
          <p:cNvPr id="3" name="Image 0" descr="/mnt/data/it_outline_extracted/word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8016"/>
            <a:ext cx="2011680" cy="685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691640"/>
            <a:ext cx="11005513" cy="41549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0">
                <a:solidFill>
                  <a:srgbClr val="222222"/>
                </a:solidFill>
                <a:latin typeface="Aptos"/>
              </a:rPr>
              <a:t>EduTrack Ghana was developed to support Junior High School learning through digital lessons, quizzes, progress tracking, reports, and machine learning assistance.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5074920" cy="135934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b="1" sz="2000">
                <a:solidFill>
                  <a:srgbClr val="1F7ED6"/>
                </a:solidFill>
                <a:latin typeface="Aptos"/>
              </a:rPr>
              <a:t>Study setting</a:t>
            </a:r>
            <a:br/>
            <a:r>
              <a:rPr sz="1500">
                <a:solidFill>
                  <a:srgbClr val="4E4E4E"/>
                </a:solidFill>
                <a:latin typeface="Aptos"/>
              </a:rPr>
              <a:t>Ghanaian Junior High School learning environment involving students, teachers, administrators, and parents.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331720"/>
            <a:ext cx="51206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b="1" sz="2000">
                <a:solidFill>
                  <a:srgbClr val="1F7ED6"/>
                </a:solidFill>
                <a:latin typeface="Aptos"/>
              </a:rPr>
              <a:t>Contextual issue</a:t>
            </a:r>
            <a:br/>
            <a:r>
              <a:rPr sz="1500">
                <a:solidFill>
                  <a:srgbClr val="4E4E4E"/>
                </a:solidFill>
                <a:latin typeface="Aptos"/>
              </a:rPr>
              <a:t>Progress tracking, quiz monitoring, reporting, and learner support are difficult when records are manual or scattered.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507492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b="1" sz="2000">
                <a:solidFill>
                  <a:srgbClr val="1F7ED6"/>
                </a:solidFill>
                <a:latin typeface="Aptos"/>
              </a:rPr>
              <a:t>Motivation</a:t>
            </a:r>
            <a:br/>
            <a:r>
              <a:rPr sz="1500">
                <a:solidFill>
                  <a:srgbClr val="4E4E4E"/>
                </a:solidFill>
                <a:latin typeface="Aptos"/>
              </a:rPr>
              <a:t>An IT-based system can make learning records easier to manage and help teachers identify weak learners early.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3886200"/>
            <a:ext cx="51206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b="1" sz="2000">
                <a:solidFill>
                  <a:srgbClr val="1F7ED6"/>
                </a:solidFill>
                <a:latin typeface="Aptos"/>
              </a:rPr>
              <a:t>Link to project</a:t>
            </a:r>
            <a:br/>
            <a:r>
              <a:rPr sz="1500">
                <a:solidFill>
                  <a:srgbClr val="4E4E4E"/>
                </a:solidFill>
                <a:latin typeface="Aptos"/>
              </a:rPr>
              <a:t>EduTrack Ghana connects lessons, assessments, analytics, security, and ML support in one web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951E"/>
          </a:solidFill>
          <a:ln w="12700">
            <a:solidFill>
              <a:srgbClr val="C795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02920" y="8412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000000"/>
                </a:solidFill>
                <a:latin typeface="Aptos"/>
              </a:rPr>
              <a:t>Problem Statement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1292840" y="63642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50" b="0">
                <a:solidFill>
                  <a:srgbClr val="000000"/>
                </a:solidFill>
                <a:latin typeface="Aptos"/>
              </a:rPr>
              <a:t>04</a:t>
            </a:r>
          </a:p>
        </p:txBody>
      </p:sp>
      <p:pic>
        <p:nvPicPr>
          <p:cNvPr id="3" name="Image 0" descr="/mnt/data/it_outline_extracted/word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8016"/>
            <a:ext cx="2011680" cy="685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691640"/>
            <a:ext cx="8546250" cy="41549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0">
                <a:solidFill>
                  <a:srgbClr val="222222"/>
                </a:solidFill>
                <a:latin typeface="Aptos"/>
              </a:rPr>
              <a:t>The project addressed the difficulty of continuously monitoring learners, identifying weak areas, and producing timely academic reports.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5074920" cy="10669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b="1" sz="2000">
                <a:solidFill>
                  <a:srgbClr val="1F7ED6"/>
                </a:solidFill>
                <a:latin typeface="Aptos"/>
              </a:rPr>
              <a:t>Main gap</a:t>
            </a:r>
            <a:br/>
            <a:r>
              <a:rPr sz="1500">
                <a:solidFill>
                  <a:srgbClr val="4E4E4E"/>
                </a:solidFill>
                <a:latin typeface="Aptos"/>
              </a:rPr>
              <a:t>Many schools lack a single platform for topic progress, quizzes, reports, and personalized revision guidance.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331720"/>
            <a:ext cx="51206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b="1" sz="2000">
                <a:solidFill>
                  <a:srgbClr val="1F7ED6"/>
                </a:solidFill>
                <a:latin typeface="Aptos"/>
              </a:rPr>
              <a:t>Affected users</a:t>
            </a:r>
            <a:br/>
            <a:r>
              <a:rPr sz="1500">
                <a:solidFill>
                  <a:srgbClr val="4E4E4E"/>
                </a:solidFill>
                <a:latin typeface="Aptos"/>
              </a:rPr>
              <a:t>Students, teachers, administrators, and parents are affected by delayed feedback and limited performance visibility.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507492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b="1" sz="2000">
                <a:solidFill>
                  <a:srgbClr val="1F7ED6"/>
                </a:solidFill>
                <a:latin typeface="Aptos"/>
              </a:rPr>
              <a:t>Consequences</a:t>
            </a:r>
            <a:br/>
            <a:r>
              <a:rPr sz="1500">
                <a:solidFill>
                  <a:srgbClr val="4E4E4E"/>
                </a:solidFill>
                <a:latin typeface="Aptos"/>
              </a:rPr>
              <a:t>Weak learners may not be detected early; reports take longer; students may revise the wrong topics.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3886200"/>
            <a:ext cx="51206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b="1" sz="2000">
                <a:solidFill>
                  <a:srgbClr val="1F7ED6"/>
                </a:solidFill>
                <a:latin typeface="Aptos"/>
              </a:rPr>
              <a:t>System need</a:t>
            </a:r>
            <a:br/>
            <a:r>
              <a:rPr sz="1500">
                <a:solidFill>
                  <a:srgbClr val="4E4E4E"/>
                </a:solidFill>
                <a:latin typeface="Aptos"/>
              </a:rPr>
              <a:t>A secure web system was needed to combine learning, assessment, reporting, and ML-assisted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951E"/>
          </a:solidFill>
          <a:ln w="12700">
            <a:solidFill>
              <a:srgbClr val="C795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02920" y="8412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000000"/>
                </a:solidFill>
                <a:latin typeface="Aptos"/>
              </a:rPr>
              <a:t>Aim of the Study and Specific Objectives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1292840" y="63642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sz="1050" b="0">
                <a:solidFill>
                  <a:srgbClr val="000000"/>
                </a:solidFill>
                <a:latin typeface="Aptos"/>
              </a:rPr>
              <a:t>05</a:t>
            </a:r>
            <a:endParaRPr lang="en-US" sz="900"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5156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0">
                <a:solidFill>
                  <a:srgbClr val="222222"/>
                </a:solidFill>
                <a:latin typeface="Aptos"/>
              </a:rPr>
              <a:t>General aim: The study aimed to develop EduTrack Ghana, a secure web-based learning and progress tracking system that supports JHS students, teachers, administrators, and parents with assessment, reporting, and machine learning assistance.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5928867" cy="4308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F7ED6"/>
                </a:solidFill>
                <a:latin typeface="Aptos"/>
              </a:rPr>
              <a:t>Specific objectives were to:</a:t>
            </a:r>
            <a:endParaRPr sz="2200" b="1" dirty="0">
              <a:latin typeface="Aptos"/>
            </a:endParaRPr>
          </a:p>
        </p:txBody>
      </p:sp>
      <p:pic>
        <p:nvPicPr>
          <p:cNvPr id="4" name="Image 0" descr="/mnt/data/it_outline_extracted/word/media/image1.jpg">
            <a:extLst>
              <a:ext uri="{FF2B5EF4-FFF2-40B4-BE49-F238E27FC236}">
                <a16:creationId xmlns:a16="http://schemas.microsoft.com/office/drawing/2014/main" id="{D04F34EC-755C-4387-90E6-425401CA8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"/>
            <a:ext cx="2011680" cy="685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3352800"/>
            <a:ext cx="5000000" cy="64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7ED6"/>
                </a:solidFill>
                <a:latin typeface="Aptos"/>
              </a:rPr>
              <a:t>1. Learning access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22222"/>
                </a:solidFill>
                <a:latin typeface="Aptos"/>
              </a:rPr>
              <a:t>Provide students with digital topics, quizzes, feedback, points, and badges.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3352800"/>
            <a:ext cx="5000000" cy="64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F9E44"/>
                </a:solidFill>
                <a:latin typeface="Aptos"/>
              </a:rPr>
              <a:t>2. Progress tracking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22222"/>
                </a:solidFill>
                <a:latin typeface="Aptos"/>
              </a:rPr>
              <a:t>Track topic completion, quiz scores, learner performance, and weak areas.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5000000" cy="64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08C00"/>
                </a:solidFill>
                <a:latin typeface="Aptos"/>
              </a:rPr>
              <a:t>3. Teacher and admin support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22222"/>
                </a:solidFill>
                <a:latin typeface="Aptos"/>
              </a:rPr>
              <a:t>Enable reports, analytics, announcements, user management, and system logs.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4251960"/>
            <a:ext cx="5000000" cy="64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03131"/>
                </a:solidFill>
                <a:latin typeface="Aptos"/>
              </a:rPr>
              <a:t>4. ML support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22222"/>
                </a:solidFill>
                <a:latin typeface="Aptos"/>
              </a:rPr>
              <a:t>Use named ML models for prediction, learner profiling, recommendations, and transcription.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951E"/>
          </a:solidFill>
          <a:ln w="12700">
            <a:solidFill>
              <a:srgbClr val="C795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02920" y="8412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000000"/>
                </a:solidFill>
                <a:latin typeface="Aptos"/>
              </a:rPr>
              <a:t>Significance of the Study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1292840" y="63642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sz="1050" b="0">
                <a:solidFill>
                  <a:srgbClr val="000000"/>
                </a:solidFill>
                <a:latin typeface="Aptos"/>
              </a:rPr>
              <a:t>06</a:t>
            </a:r>
            <a:endParaRPr lang="en-US" sz="900"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6070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0">
                <a:solidFill>
                  <a:srgbClr val="222222"/>
                </a:solidFill>
                <a:latin typeface="Aptos"/>
              </a:rPr>
              <a:t>The developed system is significant because it improves learning visibility, decision-making, accountability, and early academic support.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507492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b="1" sz="2000">
                <a:solidFill>
                  <a:srgbClr val="1F7ED6"/>
                </a:solidFill>
                <a:latin typeface="Aptos"/>
              </a:rPr>
              <a:t>Users</a:t>
            </a:r>
            <a:br/>
            <a:r>
              <a:rPr sz="1500">
                <a:solidFill>
                  <a:srgbClr val="4E4E4E"/>
                </a:solidFill>
                <a:latin typeface="Aptos"/>
              </a:rPr>
              <a:t>Students get lessons, quizzes, progress views, badges, and topic recommendations.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331720"/>
            <a:ext cx="51206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b="1" sz="2000">
                <a:solidFill>
                  <a:srgbClr val="1F7ED6"/>
                </a:solidFill>
                <a:latin typeface="Aptos"/>
              </a:rPr>
              <a:t>Organization</a:t>
            </a:r>
            <a:br/>
            <a:r>
              <a:rPr sz="1500">
                <a:solidFill>
                  <a:srgbClr val="4E4E4E"/>
                </a:solidFill>
                <a:latin typeface="Aptos"/>
              </a:rPr>
              <a:t>Teachers and administrators gain better monitoring, reporting, announcements, and user management.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507492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b="1" sz="2000">
                <a:solidFill>
                  <a:srgbClr val="1F7ED6"/>
                </a:solidFill>
                <a:latin typeface="Aptos"/>
              </a:rPr>
              <a:t>Academic value</a:t>
            </a:r>
            <a:br/>
            <a:r>
              <a:rPr sz="1500">
                <a:solidFill>
                  <a:srgbClr val="4E4E4E"/>
                </a:solidFill>
                <a:latin typeface="Aptos"/>
              </a:rPr>
              <a:t>The project shows how web development, database design, security, and ML can solve an educational problem.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3886200"/>
            <a:ext cx="51206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b="1" sz="2000">
                <a:solidFill>
                  <a:srgbClr val="1F7ED6"/>
                </a:solidFill>
                <a:latin typeface="Aptos"/>
              </a:rPr>
              <a:t>Future work</a:t>
            </a:r>
            <a:br/>
            <a:r>
              <a:rPr sz="1500">
                <a:solidFill>
                  <a:srgbClr val="4E4E4E"/>
                </a:solidFill>
                <a:latin typeface="Aptos"/>
              </a:rPr>
              <a:t>The platform can be expanded through online deployment, more verified exam data, and mobile/SMS support.</a:t>
            </a:r>
          </a:p>
        </p:txBody>
      </p:sp>
      <p:pic>
        <p:nvPicPr>
          <p:cNvPr id="4" name="Image 0" descr="/mnt/data/it_outline_extracted/word/media/image1.jpg">
            <a:extLst>
              <a:ext uri="{FF2B5EF4-FFF2-40B4-BE49-F238E27FC236}">
                <a16:creationId xmlns:a16="http://schemas.microsoft.com/office/drawing/2014/main" id="{F844CDA6-87D9-C12C-0E7C-89BA4025A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"/>
            <a:ext cx="201168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951E"/>
          </a:solidFill>
          <a:ln w="12700">
            <a:solidFill>
              <a:srgbClr val="C795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02920" y="8412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000000"/>
                </a:solidFill>
                <a:latin typeface="Aptos"/>
              </a:rPr>
              <a:t>Scope of the Study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1292840" y="63642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sz="1050" b="0">
                <a:solidFill>
                  <a:srgbClr val="000000"/>
                </a:solidFill>
                <a:latin typeface="Aptos"/>
              </a:rPr>
              <a:t>07</a:t>
            </a:r>
            <a:endParaRPr lang="en-US" sz="900" dirty="0"/>
          </a:p>
        </p:txBody>
      </p:sp>
      <p:sp>
        <p:nvSpPr>
          <p:cNvPr id="8" name="TextBox 7"/>
          <p:cNvSpPr txBox="1"/>
          <p:nvPr/>
        </p:nvSpPr>
        <p:spPr>
          <a:xfrm>
            <a:off x="174929" y="1691640"/>
            <a:ext cx="11851419" cy="7386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0">
                <a:solidFill>
                  <a:srgbClr val="222222"/>
                </a:solidFill>
                <a:latin typeface="Aptos"/>
              </a:rPr>
              <a:t>The study focused on a JHS learning-support system, not a full school-management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507492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b="1" sz="2000">
                <a:solidFill>
                  <a:srgbClr val="1F7ED6"/>
                </a:solidFill>
                <a:latin typeface="Aptos"/>
              </a:rPr>
              <a:t>Users and setting</a:t>
            </a:r>
            <a:br/>
            <a:r>
              <a:rPr sz="1500">
                <a:solidFill>
                  <a:srgbClr val="4E4E4E"/>
                </a:solidFill>
                <a:latin typeface="Aptos"/>
              </a:rPr>
              <a:t>Students, teachers, administrators, and parents within a Junior High School learning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331720"/>
            <a:ext cx="51206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b="1" sz="2000">
                <a:solidFill>
                  <a:srgbClr val="1F7ED6"/>
                </a:solidFill>
                <a:latin typeface="Aptos"/>
              </a:rPr>
              <a:t>Core system functions</a:t>
            </a:r>
            <a:br/>
            <a:r>
              <a:rPr sz="1500">
                <a:solidFill>
                  <a:srgbClr val="4E4E4E"/>
                </a:solidFill>
                <a:latin typeface="Aptos"/>
              </a:rPr>
              <a:t>Registration/login, topics, quizzes, progress, badges, reports, announcements, violations, and recommendations.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507492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b="1" sz="2000">
                <a:solidFill>
                  <a:srgbClr val="1F7ED6"/>
                </a:solidFill>
                <a:latin typeface="Aptos"/>
              </a:rPr>
              <a:t>Technology boundary</a:t>
            </a:r>
            <a:br/>
            <a:r>
              <a:rPr sz="1500">
                <a:solidFill>
                  <a:srgbClr val="4E4E4E"/>
                </a:solidFill>
                <a:latin typeface="Aptos"/>
              </a:rPr>
              <a:t>PHP, MySQL/MariaDB, HTML, CSS, JavaScript, Python Flask ML service, and XAMPP/local deployment.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3886200"/>
            <a:ext cx="51206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b="1" sz="2000">
                <a:solidFill>
                  <a:srgbClr val="1F7ED6"/>
                </a:solidFill>
                <a:latin typeface="Aptos"/>
              </a:rPr>
              <a:t>Exclusions and limits</a:t>
            </a:r>
            <a:br/>
            <a:r>
              <a:rPr sz="1500">
                <a:solidFill>
                  <a:srgbClr val="4E4E4E"/>
                </a:solidFill>
                <a:latin typeface="Aptos"/>
              </a:rPr>
              <a:t>Fees, hostel management, timetable management, and national examination registration were outside the project scope.</a:t>
            </a:r>
          </a:p>
        </p:txBody>
      </p:sp>
      <p:pic>
        <p:nvPicPr>
          <p:cNvPr id="4" name="Image 0" descr="/mnt/data/it_outline_extracted/word/media/image1.jpg">
            <a:extLst>
              <a:ext uri="{FF2B5EF4-FFF2-40B4-BE49-F238E27FC236}">
                <a16:creationId xmlns:a16="http://schemas.microsoft.com/office/drawing/2014/main" id="{8A98E256-F5E7-EA5E-C6E3-030DF5F9C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"/>
            <a:ext cx="201168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951E"/>
          </a:solidFill>
          <a:ln w="12700">
            <a:solidFill>
              <a:srgbClr val="C795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02920" y="8412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71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Chapter 2: Literature Review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1292840" y="63642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50" b="0">
                <a:solidFill>
                  <a:srgbClr val="000000"/>
                </a:solidFill>
                <a:latin typeface="Aptos"/>
              </a:rPr>
              <a:t>08</a:t>
            </a:r>
          </a:p>
        </p:txBody>
      </p:sp>
      <p:sp>
        <p:nvSpPr>
          <p:cNvPr id="9" name="Text 6"/>
          <p:cNvSpPr/>
          <p:nvPr/>
        </p:nvSpPr>
        <p:spPr>
          <a:xfrm>
            <a:off x="68580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71B49"/>
                </a:solidFill>
              </a:rPr>
              <a:t>Core purpose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2139696"/>
            <a:ext cx="44805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700" b="0">
                <a:solidFill>
                  <a:srgbClr val="222222"/>
                </a:solidFill>
                <a:latin typeface="Aptos"/>
              </a:rPr>
              <a:t>The literature review showed that existing LMS, CBT, SIS, and analytics systems informed EduTrack Ghana, but the project combined them for a JHS-focused solution.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715000" y="1700784"/>
            <a:ext cx="640080" cy="310896"/>
          </a:xfrm>
          <a:prstGeom prst="roundRect">
            <a:avLst/>
          </a:prstGeom>
          <a:solidFill>
            <a:srgbClr val="071B49"/>
          </a:solidFill>
          <a:ln>
            <a:solidFill>
              <a:srgbClr val="071B4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2.1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37960" y="170078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F7ED6"/>
                </a:solidFill>
                <a:latin typeface="Aptos"/>
              </a:rPr>
              <a:t>Introduction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942832" y="170078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 b="0">
                <a:solidFill>
                  <a:srgbClr val="4E4E4E"/>
                </a:solidFill>
                <a:latin typeface="Aptos"/>
              </a:rPr>
              <a:t>Reviewed digital learning and educational technology.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5715000" y="2450592"/>
            <a:ext cx="640080" cy="310896"/>
          </a:xfrm>
          <a:prstGeom prst="roundRect">
            <a:avLst/>
          </a:prstGeom>
          <a:solidFill>
            <a:srgbClr val="C7951E"/>
          </a:solidFill>
          <a:ln>
            <a:solidFill>
              <a:srgbClr val="C7951E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2.2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37960" y="24505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F7ED6"/>
                </a:solidFill>
                <a:latin typeface="Aptos"/>
              </a:rPr>
              <a:t>General background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942832" y="245059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 b="0">
                <a:solidFill>
                  <a:srgbClr val="4E4E4E"/>
                </a:solidFill>
                <a:latin typeface="Aptos"/>
              </a:rPr>
              <a:t>Focused on JHS learning support and progress monitoring.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5715000" y="3200400"/>
            <a:ext cx="640080" cy="310896"/>
          </a:xfrm>
          <a:prstGeom prst="roundRect">
            <a:avLst/>
          </a:prstGeom>
          <a:solidFill>
            <a:srgbClr val="071B49"/>
          </a:solidFill>
          <a:ln>
            <a:solidFill>
              <a:srgbClr val="071B4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2.3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37960" y="320040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F7ED6"/>
                </a:solidFill>
                <a:latin typeface="Aptos"/>
              </a:rPr>
              <a:t>Existing systems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942832" y="320040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 b="0">
                <a:solidFill>
                  <a:srgbClr val="4E4E4E"/>
                </a:solidFill>
                <a:latin typeface="Aptos"/>
              </a:rPr>
              <a:t>Compared LMS, CBT, SIS, and analytics dashboards.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5715000" y="3950208"/>
            <a:ext cx="640080" cy="310896"/>
          </a:xfrm>
          <a:prstGeom prst="roundRect">
            <a:avLst/>
          </a:prstGeom>
          <a:solidFill>
            <a:srgbClr val="C7951E"/>
          </a:solidFill>
          <a:ln>
            <a:solidFill>
              <a:srgbClr val="C7951E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2.4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37960" y="395020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F7ED6"/>
                </a:solidFill>
                <a:latin typeface="Aptos"/>
              </a:rPr>
              <a:t>Developed system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942832" y="395020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 b="0">
                <a:solidFill>
                  <a:srgbClr val="4E4E4E"/>
                </a:solidFill>
                <a:latin typeface="Aptos"/>
              </a:rPr>
              <a:t>EduTrack adds role-based learning, reporting, and ML support.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5715000" y="4700016"/>
            <a:ext cx="640080" cy="310896"/>
          </a:xfrm>
          <a:prstGeom prst="roundRect">
            <a:avLst/>
          </a:prstGeom>
          <a:solidFill>
            <a:srgbClr val="071B49"/>
          </a:solidFill>
          <a:ln>
            <a:solidFill>
              <a:srgbClr val="071B4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2.5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37960" y="470001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F7ED6"/>
                </a:solidFill>
                <a:latin typeface="Aptos"/>
              </a:rPr>
              <a:t>Chapter summary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942832" y="470001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 b="0">
                <a:solidFill>
                  <a:srgbClr val="4E4E4E"/>
                </a:solidFill>
                <a:latin typeface="Aptos"/>
              </a:rPr>
              <a:t>Insights guided the final system features and design.</a:t>
            </a:r>
            <a:endParaRPr lang="en-US" sz="1120" dirty="0"/>
          </a:p>
        </p:txBody>
      </p:sp>
      <p:pic>
        <p:nvPicPr>
          <p:cNvPr id="3" name="Image 0" descr="/mnt/data/it_outline_extracted/word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8016"/>
            <a:ext cx="201168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951E"/>
          </a:solidFill>
          <a:ln w="12700">
            <a:solidFill>
              <a:srgbClr val="C795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9326880" y="228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sz="2600" b="1">
                <a:solidFill>
                  <a:srgbClr val="000000"/>
                </a:solidFill>
                <a:latin typeface="Aptos"/>
              </a:rPr>
              <a:t>Reviewing Existing Systems and Technologies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8412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71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Reviewing Existing Systems and Technologies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1292840" y="63642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50" b="0">
                <a:solidFill>
                  <a:srgbClr val="000000"/>
                </a:solidFill>
                <a:latin typeface="Aptos"/>
              </a:rPr>
              <a:t>09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63550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 b="0">
                <a:solidFill>
                  <a:srgbClr val="4E4E4E"/>
                </a:solidFill>
                <a:latin typeface="Aptos"/>
              </a:rPr>
              <a:t>Compared systems: Moodle, Google Classroom, Canvas, CBT platforms, Student Information Systems, and analytics dashboards.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8580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71B49"/>
                </a:solidFill>
              </a:rPr>
              <a:t>What was compared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331720"/>
            <a:ext cx="2103120" cy="457200"/>
          </a:xfrm>
          <a:prstGeom prst="roundRect">
            <a:avLst/>
          </a:prstGeom>
          <a:solidFill>
            <a:srgbClr val="071B49"/>
          </a:solidFill>
          <a:ln>
            <a:solidFill>
              <a:srgbClr val="071B49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500" b="0">
                <a:solidFill>
                  <a:srgbClr val="222222"/>
                </a:solidFill>
                <a:latin typeface="Aptos"/>
              </a:rPr>
              <a:t>Lessons, quizzes, submissions, grades, dashboards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300" b="0">
                <a:solidFill>
                  <a:srgbClr val="4E4E4E"/>
                </a:solidFill>
                <a:latin typeface="Aptos"/>
              </a:rPr>
              <a:t>EduTrack selected learning, quizzes, progress, reports, and badges.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74720" y="2331720"/>
            <a:ext cx="2103120" cy="457200"/>
          </a:xfrm>
          <a:prstGeom prst="roundRect">
            <a:avLst/>
          </a:prstGeom>
          <a:solidFill>
            <a:srgbClr val="C7951E"/>
          </a:solidFill>
          <a:ln>
            <a:solidFill>
              <a:srgbClr val="C7951E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500" b="0">
                <a:solidFill>
                  <a:srgbClr val="222222"/>
                </a:solidFill>
                <a:latin typeface="Aptos"/>
              </a:rPr>
              <a:t>Students learn and take quizzes; teachers monitor; admins manage.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47472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300" b="0">
                <a:solidFill>
                  <a:srgbClr val="4E4E4E"/>
                </a:solidFill>
                <a:latin typeface="Aptos"/>
              </a:rPr>
              <a:t>Role-based workflows shaped the developed system.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17920" y="2331720"/>
            <a:ext cx="2103120" cy="457200"/>
          </a:xfrm>
          <a:prstGeom prst="roundRect">
            <a:avLst/>
          </a:prstGeom>
          <a:solidFill>
            <a:srgbClr val="071B49"/>
          </a:solidFill>
          <a:ln>
            <a:solidFill>
              <a:srgbClr val="071B49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500" b="0">
                <a:solidFill>
                  <a:srgbClr val="222222"/>
                </a:solidFill>
                <a:latin typeface="Aptos"/>
              </a:rPr>
              <a:t>Limited personalization, reporting gaps, or less local JHS focus.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1792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300" b="0">
                <a:solidFill>
                  <a:srgbClr val="4E4E4E"/>
                </a:solidFill>
                <a:latin typeface="Aptos"/>
              </a:rPr>
              <a:t>EduTrack adds ML-assisted revision and exam-readiness support.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961120" y="2331720"/>
            <a:ext cx="2103120" cy="457200"/>
          </a:xfrm>
          <a:prstGeom prst="roundRect">
            <a:avLst/>
          </a:prstGeom>
          <a:solidFill>
            <a:srgbClr val="C7951E"/>
          </a:solidFill>
          <a:ln>
            <a:solidFill>
              <a:srgbClr val="C7951E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500" b="0">
                <a:solidFill>
                  <a:srgbClr val="222222"/>
                </a:solidFill>
                <a:latin typeface="Aptos"/>
              </a:rPr>
              <a:t>Combine LMS + assessment + reporting + ML support.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96112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300" b="0">
                <a:solidFill>
                  <a:srgbClr val="4E4E4E"/>
                </a:solidFill>
                <a:latin typeface="Aptos"/>
              </a:rPr>
              <a:t>The reviewed systems justified the integrated EduTrack approach.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874520" y="3977640"/>
            <a:ext cx="8366760" cy="0"/>
          </a:xfrm>
          <a:prstGeom prst="line">
            <a:avLst/>
          </a:prstGeom>
          <a:noFill/>
          <a:ln w="25400">
            <a:solidFill>
              <a:srgbClr val="D8DEE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1874520" y="4343400"/>
            <a:ext cx="84124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1F7ED6"/>
                </a:solidFill>
                <a:latin typeface="Aptos"/>
              </a:rPr>
              <a:t>The review justified why EduTrack Ghana was necessary: one secure, JHS-focused system for learning, monitoring, reporting, and personalized support.</a:t>
            </a:r>
            <a:endParaRPr lang="en-US" sz="2000" dirty="0"/>
          </a:p>
        </p:txBody>
      </p:sp>
      <p:pic>
        <p:nvPicPr>
          <p:cNvPr id="3" name="Image 0" descr="/mnt/data/it_outline_extracted/word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8016"/>
            <a:ext cx="201168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951E"/>
          </a:solidFill>
          <a:ln w="12700">
            <a:solidFill>
              <a:srgbClr val="C795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02920" y="8412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71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Chapter 3: Methodology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1292840" y="63642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50" b="0">
                <a:solidFill>
                  <a:srgbClr val="000000"/>
                </a:solidFill>
                <a:latin typeface="Aptos"/>
              </a:rPr>
              <a:t>10</a:t>
            </a:r>
          </a:p>
        </p:txBody>
      </p:sp>
      <p:sp>
        <p:nvSpPr>
          <p:cNvPr id="9" name="Text 6"/>
          <p:cNvSpPr/>
          <p:nvPr/>
        </p:nvSpPr>
        <p:spPr>
          <a:xfrm>
            <a:off x="731520" y="16916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800" b="0">
                <a:solidFill>
                  <a:srgbClr val="222222"/>
                </a:solidFill>
                <a:latin typeface="Aptos"/>
              </a:rPr>
              <a:t>Chapter 3 explained how EduTrack Ghana was developed using an Agile/prototyping approach, with requirements translated into database, interface, security, and ML designs.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2514600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F7ED6"/>
                </a:solidFill>
                <a:latin typeface="Aptos"/>
              </a:rPr>
              <a:t>3.2 Development Methodology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2953512"/>
            <a:ext cx="47548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400" b="0">
                <a:solidFill>
                  <a:srgbClr val="4E4E4E"/>
                </a:solidFill>
                <a:latin typeface="Aptos"/>
              </a:rPr>
              <a:t>Agile prototyping was used because modules such as quizzes, reports, roles, and ML support needed repeated testing and improvement.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217920" y="2514600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F7ED6"/>
                </a:solidFill>
                <a:latin typeface="Aptos"/>
              </a:rPr>
              <a:t>3.3 Problem Crystallization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217920" y="2953512"/>
            <a:ext cx="47548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400" b="0">
                <a:solidFill>
                  <a:srgbClr val="4E4E4E"/>
                </a:solidFill>
                <a:latin typeface="Aptos"/>
              </a:rPr>
              <a:t>The key issue became clear: schools need early visibility into learner progress and weak areas, not only final scores.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85800" y="4023360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F7ED6"/>
                </a:solidFill>
                <a:latin typeface="Aptos"/>
              </a:rPr>
              <a:t>3.4 Requirements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5800" y="4462272"/>
            <a:ext cx="47548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400" b="0">
                <a:solidFill>
                  <a:srgbClr val="4E4E4E"/>
                </a:solidFill>
                <a:latin typeface="Aptos"/>
              </a:rPr>
              <a:t>Functional, non-functional, software, database, and security requirements were identified for the developed system.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217920" y="4023360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1F7ED6"/>
                </a:solidFill>
                <a:latin typeface="Aptos"/>
              </a:rPr>
              <a:t>3.5 System Design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217920" y="4462272"/>
            <a:ext cx="47548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400" b="0">
                <a:solidFill>
                  <a:srgbClr val="4E4E4E"/>
                </a:solidFill>
                <a:latin typeface="Aptos"/>
              </a:rPr>
              <a:t>Design outputs included role-based modules, MySQL tables, authentication controls, reports, and the Flask ML service.</a:t>
            </a:r>
            <a:endParaRPr lang="en-US" sz="1250" dirty="0"/>
          </a:p>
        </p:txBody>
      </p:sp>
      <p:pic>
        <p:nvPicPr>
          <p:cNvPr id="3" name="Image 0" descr="/mnt/data/it_outline_extracted/word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8016"/>
            <a:ext cx="2011680" cy="685800"/>
          </a:xfrm>
          <a:prstGeom prst="rect">
            <a:avLst/>
          </a:prstGeom>
        </p:spPr>
      </p:pic>
      <p:sp>
        <p:nvSpPr>
          <p:cNvPr id="4" name="Text 6">
            <a:extLst>
              <a:ext uri="{FF2B5EF4-FFF2-40B4-BE49-F238E27FC236}">
                <a16:creationId xmlns:a16="http://schemas.microsoft.com/office/drawing/2014/main" id="{C24B8348-820A-9FA8-A8BD-E38526B3D117}"/>
              </a:ext>
            </a:extLst>
          </p:cNvPr>
          <p:cNvSpPr/>
          <p:nvPr/>
        </p:nvSpPr>
        <p:spPr>
          <a:xfrm>
            <a:off x="588397" y="54406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1F7ED6"/>
                </a:solidFill>
                <a:latin typeface="Aptos"/>
              </a:rPr>
              <a:t>Methodology answer: Agile prototyping + database-driven web application design + ML-assisted educational analytics.</a:t>
            </a:r>
            <a:endParaRPr lang="en-US" sz="1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951E"/>
          </a:solidFill>
          <a:ln w="12700">
            <a:solidFill>
              <a:srgbClr val="C795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02920" y="8412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71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Requirements of the Developed System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1292840" y="63642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50" b="0" dirty="0">
                <a:solidFill>
                  <a:srgbClr val="000000"/>
                </a:solidFill>
                <a:latin typeface="Aptos"/>
              </a:rPr>
              <a:t>1</a:t>
            </a:r>
            <a:r>
              <a:rPr lang="en-US" sz="1050" b="0" dirty="0">
                <a:solidFill>
                  <a:srgbClr val="000000"/>
                </a:solidFill>
                <a:latin typeface="Aptos"/>
              </a:rPr>
              <a:t>1</a:t>
            </a:r>
            <a:endParaRPr sz="1050" b="0" dirty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Text 6"/>
          <p:cNvSpPr/>
          <p:nvPr/>
        </p:nvSpPr>
        <p:spPr>
          <a:xfrm>
            <a:off x="868680" y="1874520"/>
            <a:ext cx="512064" cy="512064"/>
          </a:xfrm>
          <a:prstGeom prst="ellipse">
            <a:avLst/>
          </a:prstGeom>
          <a:solidFill>
            <a:srgbClr val="071B49"/>
          </a:solidFill>
          <a:ln>
            <a:solidFill>
              <a:srgbClr val="071B4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00200" y="178308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71B49"/>
                </a:solidFill>
              </a:rPr>
              <a:t>Functional Requirements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532120" y="1783080"/>
            <a:ext cx="57150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500" b="0">
                <a:solidFill>
                  <a:srgbClr val="222222"/>
                </a:solidFill>
                <a:latin typeface="Aptos"/>
              </a:rPr>
              <a:t>Login/registration, topic access, quizzes, progress tracking, badges, recommendations, reports, announcements, violations, and admin logs.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94360" y="2743200"/>
            <a:ext cx="109728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68680" y="3108960"/>
            <a:ext cx="512064" cy="512064"/>
          </a:xfrm>
          <a:prstGeom prst="ellipse">
            <a:avLst/>
          </a:prstGeom>
          <a:solidFill>
            <a:srgbClr val="C7951E"/>
          </a:solidFill>
          <a:ln>
            <a:solidFill>
              <a:srgbClr val="C7951E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600200" y="301752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71B49"/>
                </a:solidFill>
              </a:rPr>
              <a:t>Non-Functional Requirements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532120" y="3017520"/>
            <a:ext cx="57150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500" b="0">
                <a:solidFill>
                  <a:srgbClr val="222222"/>
                </a:solidFill>
                <a:latin typeface="Aptos"/>
              </a:rPr>
              <a:t>Security, usability, reliability, maintainability, role-based access, CSRF protection, password hashing, and safe database queries.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3977640"/>
            <a:ext cx="109728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868680" y="4343400"/>
            <a:ext cx="512064" cy="512064"/>
          </a:xfrm>
          <a:prstGeom prst="ellipse">
            <a:avLst/>
          </a:prstGeom>
          <a:solidFill>
            <a:srgbClr val="F28A28"/>
          </a:solidFill>
          <a:ln>
            <a:solidFill>
              <a:srgbClr val="F28A2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600200" y="425196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71B49"/>
                </a:solidFill>
              </a:rPr>
              <a:t>Software Requirements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532120" y="4251960"/>
            <a:ext cx="57150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500" b="0">
                <a:solidFill>
                  <a:srgbClr val="222222"/>
                </a:solidFill>
                <a:latin typeface="Aptos"/>
              </a:rPr>
              <a:t>PHP, MySQL/MariaDB, HTML, CSS, JavaScript, Python Flask, XAMPP, Ridge Regression, XGBoost prototype, TensorFlow models, and Whisper transcription.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143000" y="55321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1F7ED6"/>
                </a:solidFill>
                <a:latin typeface="Aptos"/>
              </a:rPr>
              <a:t>The requirements were linked directly to the problem: improving learning visibility, feedback, reporting, and secure user management.</a:t>
            </a:r>
            <a:endParaRPr lang="en-US" sz="1500" dirty="0"/>
          </a:p>
        </p:txBody>
      </p:sp>
      <p:pic>
        <p:nvPicPr>
          <p:cNvPr id="3" name="Image 0" descr="/mnt/data/it_outline_extracted/word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8016"/>
            <a:ext cx="201168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951E"/>
          </a:solidFill>
          <a:ln w="12700">
            <a:solidFill>
              <a:srgbClr val="C795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02920" y="995553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500" b="1">
                <a:solidFill>
                  <a:srgbClr val="000000"/>
                </a:solidFill>
                <a:latin typeface="Aptos"/>
              </a:rPr>
              <a:t>Chapter 4: Implementation and Demonstration of EduTrack Ghana</a:t>
            </a:r>
            <a:endParaRPr lang="en-US" sz="2000" dirty="0">
              <a:latin typeface="+mj-lt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1302779" y="63642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50" b="0" dirty="0">
                <a:solidFill>
                  <a:srgbClr val="000000"/>
                </a:solidFill>
                <a:latin typeface="Aptos"/>
              </a:rPr>
              <a:t>1</a:t>
            </a:r>
            <a:r>
              <a:rPr lang="en-US" sz="1050" b="0" dirty="0">
                <a:solidFill>
                  <a:srgbClr val="000000"/>
                </a:solidFill>
                <a:latin typeface="Aptos"/>
              </a:rPr>
              <a:t>2</a:t>
            </a:r>
            <a:endParaRPr sz="1050" b="0" dirty="0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3" name="Image 0" descr="/mnt/data/it_outline_extracted/word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8016"/>
            <a:ext cx="2011680" cy="685800"/>
          </a:xfrm>
          <a:prstGeom prst="rect">
            <a:avLst/>
          </a:prstGeom>
        </p:spPr>
      </p:pic>
      <p:sp>
        <p:nvSpPr>
          <p:cNvPr id="4" name="Text 6">
            <a:extLst>
              <a:ext uri="{FF2B5EF4-FFF2-40B4-BE49-F238E27FC236}">
                <a16:creationId xmlns:a16="http://schemas.microsoft.com/office/drawing/2014/main" id="{373822FB-458C-1AF2-DE20-DA683A15DD54}"/>
              </a:ext>
            </a:extLst>
          </p:cNvPr>
          <p:cNvSpPr/>
          <p:nvPr/>
        </p:nvSpPr>
        <p:spPr>
          <a:xfrm>
            <a:off x="777240" y="1691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Aptos"/>
              </a:rPr>
              <a:t>The developed system runs locally through XAMPP and demonstrates role-based workflows for students, teachers, administrators, and parents.</a:t>
            </a:r>
            <a:endParaRPr sz="2000" b="1" i="1" dirty="0">
              <a:solidFill>
                <a:srgbClr val="FF0000"/>
              </a:solidFill>
            </a:endParaRPr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05B2C586-E7CE-C490-7C16-E591CA978179}"/>
              </a:ext>
            </a:extLst>
          </p:cNvPr>
          <p:cNvSpPr/>
          <p:nvPr/>
        </p:nvSpPr>
        <p:spPr>
          <a:xfrm>
            <a:off x="1325880" y="3099816"/>
            <a:ext cx="839459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2200" b="1">
                <a:solidFill>
                  <a:srgbClr val="1F7ED6"/>
                </a:solidFill>
                <a:latin typeface="Aptos"/>
              </a:rPr>
              <a:t>Demo link: http://localhost/edutrack</a:t>
            </a:r>
            <a:endParaRPr lang="en-US" sz="3600" dirty="0"/>
          </a:p>
          <a:p>
            <a:pPr algn="ctr"/>
            <a:r>
              <a:rPr sz="2200" b="1">
                <a:solidFill>
                  <a:srgbClr val="1F7ED6"/>
                </a:solidFill>
                <a:latin typeface="Aptos"/>
              </a:rPr>
              <a:t>Database: edutrack_ghana</a:t>
            </a:r>
          </a:p>
          <a:p>
            <a:pPr algn="ctr"/>
            <a:r>
              <a:rPr sz="2200" b="1">
                <a:solidFill>
                  <a:srgbClr val="1F7ED6"/>
                </a:solidFill>
                <a:latin typeface="Aptos"/>
              </a:rPr>
              <a:t>ML service: python ml/ml_service.py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000" y="4450000"/>
            <a:ext cx="3150000" cy="77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7ED6"/>
                </a:solidFill>
                <a:latin typeface="Aptos"/>
              </a:rPr>
              <a:t>Testing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Functional, validation, database, security, and regression tests.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Key file: tests/php/run.php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0000" y="4450000"/>
            <a:ext cx="3150000" cy="77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F9E44"/>
                </a:solidFill>
                <a:latin typeface="Aptos"/>
              </a:rPr>
              <a:t>Deployment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Project folder: C:/xampp/htdocs/edutrack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Local browser deployment with MySQL database.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0000" y="4450000"/>
            <a:ext cx="3150000" cy="77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03131"/>
                </a:solidFill>
                <a:latin typeface="Aptos"/>
              </a:rPr>
              <a:t>Challenges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Aptos"/>
              </a:rPr>
              <a:t>Role security, many related tables, ML data limits, and PHP-Flask connection.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951E"/>
          </a:solidFill>
          <a:ln w="12700">
            <a:solidFill>
              <a:srgbClr val="C795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02920" y="8412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71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Chapter 5: Summary, Conclusions and Recommendations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1292840" y="63642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50" b="0" dirty="0">
                <a:solidFill>
                  <a:srgbClr val="000000"/>
                </a:solidFill>
                <a:latin typeface="Aptos"/>
              </a:rPr>
              <a:t>1</a:t>
            </a:r>
            <a:r>
              <a:rPr lang="en-US" sz="1050" dirty="0">
                <a:solidFill>
                  <a:srgbClr val="000000"/>
                </a:solidFill>
                <a:latin typeface="Aptos"/>
              </a:rPr>
              <a:t>3</a:t>
            </a:r>
            <a:endParaRPr sz="1050" b="0" dirty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280160" y="5486400"/>
            <a:ext cx="9646920" cy="320040"/>
          </a:xfrm>
          <a:prstGeom prst="roundRect">
            <a:avLst>
              <a:gd name="adj" fmla="val 22857"/>
            </a:avLst>
          </a:prstGeom>
          <a:solidFill>
            <a:srgbClr val="071B49"/>
          </a:solidFill>
          <a:ln>
            <a:solidFill>
              <a:srgbClr val="071B4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sz="1700" b="1">
                <a:solidFill>
                  <a:srgbClr val="1F7ED6"/>
                </a:solidFill>
                <a:latin typeface="Aptos"/>
              </a:rPr>
              <a:t>EduTrack Ghana met its project aim by delivering a secure, database-driven learning and progress tracking system with ML-assisted support for JHS education.</a:t>
            </a:r>
            <a:endParaRPr lang="en-US" sz="1100" dirty="0"/>
          </a:p>
        </p:txBody>
      </p:sp>
      <p:pic>
        <p:nvPicPr>
          <p:cNvPr id="3" name="Image 0" descr="/mnt/data/it_outline_extracted/word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8016"/>
            <a:ext cx="2011680" cy="6858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50000" y="1700000"/>
            <a:ext cx="4850000" cy="120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7ED6"/>
                </a:solidFill>
                <a:latin typeface="Aptos"/>
              </a:rPr>
              <a:t>Summary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Aptos"/>
              </a:rPr>
              <a:t>EduTrack Ghana combines lessons, quizzes, progress tracking, reports, and ML support.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Aptos"/>
              </a:rPr>
              <a:t>It supports students, teachers, administrators, and parents.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0000" y="1700000"/>
            <a:ext cx="4850000" cy="120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F9E44"/>
                </a:solidFill>
                <a:latin typeface="Aptos"/>
              </a:rPr>
              <a:t>ML models used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Aptos"/>
              </a:rPr>
              <a:t>Ridge Regression, Personal Linear Trend Fallback, XGBoost prototype, TensorFlow Learner Profile, TensorFlow Contextual Bandit, and Whisper.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000" y="3300000"/>
            <a:ext cx="4850000" cy="120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08C00"/>
                </a:solidFill>
                <a:latin typeface="Aptos"/>
              </a:rPr>
              <a:t>Limitations and future work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Aptos"/>
              </a:rPr>
              <a:t>Local deployment, limited verified exam labels, and need for online HTTPS deployment, mobile/SMS support, and more ML training 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0000" y="3300000"/>
            <a:ext cx="4850000" cy="120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3131"/>
                </a:solidFill>
                <a:latin typeface="Aptos"/>
              </a:rPr>
              <a:t>Recommendations and conclusion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Aptos"/>
              </a:rPr>
              <a:t>Adopt digital progress tracking, use analytics for early intervention, collect verified data, and secure deployment credentials.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C48E14"/>
          </a:solidFill>
          <a:ln>
            <a:solidFill>
              <a:srgbClr val="C48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55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000000"/>
                </a:solidFill>
                <a:latin typeface="Aptos"/>
              </a:rPr>
              <a:t>Machine Learning Models Used in EduTrack Ghana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35000"/>
            <a:ext cx="11155680" cy="10000"/>
          </a:xfrm>
          <a:prstGeom prst="rect">
            <a:avLst/>
          </a:prstGeom>
          <a:solidFill>
            <a:srgbClr val="C8D2E1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364224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222222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0000" y="1750000"/>
            <a:ext cx="5000000" cy="82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7ED6"/>
                </a:solidFill>
                <a:latin typeface="Aptos"/>
              </a:rPr>
              <a:t>Ridge Regression Model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Aptos"/>
              </a:rPr>
              <a:t>Baseline exam-readiness predictor. It estimates readiness using learner performance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00000" y="1750000"/>
            <a:ext cx="5000000" cy="82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F9E44"/>
                </a:solidFill>
                <a:latin typeface="Aptos"/>
              </a:rPr>
              <a:t>Personal Linear Trend Fallback Model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Aptos"/>
              </a:rPr>
              <a:t>Uses a student's own score history when the main model has limited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0000" y="2900000"/>
            <a:ext cx="5000000" cy="82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08C00"/>
                </a:solidFill>
                <a:latin typeface="Aptos"/>
              </a:rPr>
              <a:t>XGBoost Prediction and Risk Model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Aptos"/>
              </a:rPr>
              <a:t>Advanced prototype for performance prediction and learner risk identification.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0000" y="2900000"/>
            <a:ext cx="5000000" cy="82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7ED6"/>
                </a:solidFill>
                <a:latin typeface="Aptos"/>
              </a:rPr>
              <a:t>TensorFlow Learner Profile Model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Aptos"/>
              </a:rPr>
              <a:t>Groups learners into learning segments so support can be more personalized.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0000" y="4050000"/>
            <a:ext cx="5000000" cy="82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F9E44"/>
                </a:solidFill>
                <a:latin typeface="Aptos"/>
              </a:rPr>
              <a:t>TensorFlow Contextual Bandit Recommendation Model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Aptos"/>
              </a:rPr>
              <a:t>Ranks the best topics for a learner to revise next based on context and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0000" y="4050000"/>
            <a:ext cx="5000000" cy="82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03131"/>
                </a:solidFill>
                <a:latin typeface="Aptos"/>
              </a:rPr>
              <a:t>Whisper Speech Transcription Model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  <a:latin typeface="Aptos"/>
              </a:rPr>
              <a:t>Converts recorded audio into text for learning or accessibility support.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C48E14"/>
          </a:solidFill>
          <a:ln>
            <a:solidFill>
              <a:srgbClr val="C48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55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000000"/>
                </a:solidFill>
                <a:latin typeface="Aptos"/>
              </a:rPr>
              <a:t>Testing, Deployment, Documentation and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35000"/>
            <a:ext cx="11155680" cy="10000"/>
          </a:xfrm>
          <a:prstGeom prst="rect">
            <a:avLst/>
          </a:prstGeom>
          <a:solidFill>
            <a:srgbClr val="C8D2E1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364224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222222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0000" y="1750000"/>
            <a:ext cx="5000000" cy="100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7ED6"/>
                </a:solidFill>
                <a:latin typeface="Aptos"/>
              </a:rPr>
              <a:t>Testing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Aptos"/>
              </a:rPr>
              <a:t>Functional testing, validation testing, database testing, security checks, and regression testing through tests/php/run.php.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00000" y="1750000"/>
            <a:ext cx="5000000" cy="100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F9E44"/>
                </a:solidFill>
                <a:latin typeface="Aptos"/>
              </a:rPr>
              <a:t>Deployment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Aptos"/>
              </a:rPr>
              <a:t>Local XAMPP deployment: C:/xampp/htdocs/edutrack, MySQL database edutrack_ghana, and Flask ML 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0000" y="3350000"/>
            <a:ext cx="5000000" cy="100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08C00"/>
                </a:solidFill>
                <a:latin typeface="Aptos"/>
              </a:rPr>
              <a:t>Documentation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Aptos"/>
              </a:rPr>
              <a:t>Defense study guide, codebase/database/security/ML guide, ML DFD documentation, and implementation status notes.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0000" y="3350000"/>
            <a:ext cx="5000000" cy="100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3131"/>
                </a:solidFill>
                <a:latin typeface="Aptos"/>
              </a:rPr>
              <a:t>Implementation challenges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Aptos"/>
              </a:rPr>
              <a:t>Managing roles securely, many related database tables, adaptive quiz data, duplicate points, and PHP-to-Flask ML integration.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C48E14"/>
          </a:solidFill>
          <a:ln>
            <a:solidFill>
              <a:srgbClr val="C48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55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000000"/>
                </a:solidFill>
                <a:latin typeface="Aptos"/>
              </a:rPr>
              <a:t>Summary, Limitations, Future Work and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35000"/>
            <a:ext cx="11155680" cy="10000"/>
          </a:xfrm>
          <a:prstGeom prst="rect">
            <a:avLst/>
          </a:prstGeom>
          <a:solidFill>
            <a:srgbClr val="C8D2E1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364224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222222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0000" y="1750000"/>
            <a:ext cx="5000000" cy="100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7ED6"/>
                </a:solidFill>
                <a:latin typeface="Aptos"/>
              </a:rPr>
              <a:t>Summary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Aptos"/>
              </a:rPr>
              <a:t>EduTrack Ghana delivers learning, quizzes, progress tracking, reports, security controls, and ML support in one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00000" y="1750000"/>
            <a:ext cx="5000000" cy="100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08C00"/>
                </a:solidFill>
                <a:latin typeface="Aptos"/>
              </a:rPr>
              <a:t>Limitations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Aptos"/>
              </a:rPr>
              <a:t>Currently local deployment; ML accuracy needs more verified exam data; predictions are support estimates, not official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0000" y="3350000"/>
            <a:ext cx="5000000" cy="100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F9E44"/>
                </a:solidFill>
                <a:latin typeface="Aptos"/>
              </a:rPr>
              <a:t>Future work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Aptos"/>
              </a:rPr>
              <a:t>Deploy online with HTTPS, collect verified labels, improve mobile/SMS support, and fine-tune speech support with consented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0000" y="3350000"/>
            <a:ext cx="5000000" cy="1000000"/>
          </a:xfrm>
          <a:prstGeom prst="roundRect">
            <a:avLst/>
          </a:prstGeom>
          <a:solidFill>
            <a:srgbClr val="F8F9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3131"/>
                </a:solidFill>
                <a:latin typeface="Aptos"/>
              </a:rPr>
              <a:t>Recommendations and conclusion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Aptos"/>
              </a:rPr>
              <a:t>Schools should use digital progress tracking and analytics for early intervention while maintaining strong security practices.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C48E14"/>
          </a:solidFill>
          <a:ln>
            <a:solidFill>
              <a:srgbClr val="C48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40280"/>
            <a:ext cx="1069848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Questions and Discussion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EduTrack Ghana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0000" y="6236208"/>
            <a:ext cx="900000" cy="2539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>
                <a:solidFill>
                  <a:srgbClr val="FFFFFF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939</Words>
  <Application>Microsoft Office PowerPoint</Application>
  <PresentationFormat>Widescreen</PresentationFormat>
  <Paragraphs>149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Professional Studies, Accra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Project Report Writing Guide</dc:title>
  <dc:subject>Undergraduate IT Project Report Guide</dc:subject>
  <dc:creator>OpenAI</dc:creator>
  <cp:lastModifiedBy>Caleb Ato Amoah-Ampah</cp:lastModifiedBy>
  <cp:revision>26</cp:revision>
  <dcterms:created xsi:type="dcterms:W3CDTF">2026-05-17T14:47:36Z</dcterms:created>
  <dcterms:modified xsi:type="dcterms:W3CDTF">2026-06-24T18:07:06Z</dcterms:modified>
</cp:coreProperties>
</file>